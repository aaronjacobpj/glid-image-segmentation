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KtRvNDdbyrYZVt1RPQaamkwhb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B85BAB-02DD-4F18-BD5C-EF4B93B7C8A4}">
  <a:tblStyle styleId="{BFB85BAB-02DD-4F18-BD5C-EF4B93B7C8A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 name="Google Shape;64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7" name="Google Shape;68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3.jpg"/><Relationship Id="rId5" Type="http://schemas.openxmlformats.org/officeDocument/2006/relationships/image" Target="../media/image5.jpg"/><Relationship Id="rId6"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8.jpg"/><Relationship Id="rId5" Type="http://schemas.openxmlformats.org/officeDocument/2006/relationships/image" Target="../media/image25.jpg"/><Relationship Id="rId6" Type="http://schemas.openxmlformats.org/officeDocument/2006/relationships/image" Target="../media/image9.jpg"/><Relationship Id="rId7" Type="http://schemas.openxmlformats.org/officeDocument/2006/relationships/image" Target="../media/image7.jpg"/><Relationship Id="rId8"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jpg"/><Relationship Id="rId4" Type="http://schemas.openxmlformats.org/officeDocument/2006/relationships/image" Target="../media/image16.jpg"/><Relationship Id="rId5" Type="http://schemas.openxmlformats.org/officeDocument/2006/relationships/image" Target="../media/image10.jpg"/><Relationship Id="rId6" Type="http://schemas.openxmlformats.org/officeDocument/2006/relationships/image" Target="../media/image15.jpg"/><Relationship Id="rId7" Type="http://schemas.openxmlformats.org/officeDocument/2006/relationships/image" Target="../media/image12.jpg"/><Relationship Id="rId8"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7.jpg"/><Relationship Id="rId7" Type="http://schemas.openxmlformats.org/officeDocument/2006/relationships/image" Target="../media/image28.jpg"/><Relationship Id="rId8"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9144000" cy="100584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0" y="1005840"/>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320040" y="0"/>
            <a:ext cx="804672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INDIAN INSTITUTE OF TECHNOLOGY ROORKEE</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8321040" y="109728"/>
            <a:ext cx="640080" cy="640080"/>
          </a:xfrm>
          <a:prstGeom prst="ellipse">
            <a:avLst/>
          </a:prstGeom>
          <a:solidFill>
            <a:srgbClr val="00838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731520" y="1234440"/>
            <a:ext cx="7680960" cy="1325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57"/>
              </a:buClr>
              <a:buSzPts val="2600"/>
              <a:buFont typeface="Calibri"/>
              <a:buNone/>
            </a:pPr>
            <a:r>
              <a:rPr b="1" i="0" lang="en-US" sz="2600" u="none" cap="none" strike="noStrike">
                <a:solidFill>
                  <a:srgbClr val="1A2357"/>
                </a:solidFill>
                <a:latin typeface="Calibri"/>
                <a:ea typeface="Calibri"/>
                <a:cs typeface="Calibri"/>
                <a:sym typeface="Calibri"/>
              </a:rPr>
              <a:t>Deep Learning-Based Glacial Lake</a:t>
            </a:r>
            <a:endParaRPr b="0" i="0" sz="2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357"/>
              </a:buClr>
              <a:buSzPts val="2600"/>
              <a:buFont typeface="Calibri"/>
              <a:buNone/>
            </a:pPr>
            <a:r>
              <a:rPr b="1" i="0" lang="en-US" sz="2600" u="none" cap="none" strike="noStrike">
                <a:solidFill>
                  <a:srgbClr val="1A2357"/>
                </a:solidFill>
                <a:latin typeface="Calibri"/>
                <a:ea typeface="Calibri"/>
                <a:cs typeface="Calibri"/>
                <a:sym typeface="Calibri"/>
              </a:rPr>
              <a:t>Segmentation Using Multi-Architecture Models</a:t>
            </a:r>
            <a:endParaRPr b="0" i="0" sz="2600" u="none" cap="none" strike="noStrike">
              <a:solidFill>
                <a:schemeClr val="dk1"/>
              </a:solidFill>
              <a:latin typeface="Calibri"/>
              <a:ea typeface="Calibri"/>
              <a:cs typeface="Calibri"/>
              <a:sym typeface="Calibri"/>
            </a:endParaRPr>
          </a:p>
        </p:txBody>
      </p:sp>
      <p:sp>
        <p:nvSpPr>
          <p:cNvPr id="21" name="Google Shape;21;p1"/>
          <p:cNvSpPr/>
          <p:nvPr/>
        </p:nvSpPr>
        <p:spPr>
          <a:xfrm>
            <a:off x="914400" y="2560320"/>
            <a:ext cx="731520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400"/>
              <a:buFont typeface="Calibri"/>
              <a:buNone/>
            </a:pPr>
            <a:r>
              <a:rPr b="1" i="1" lang="en-US" sz="2100" u="none" cap="none" strike="noStrike">
                <a:solidFill>
                  <a:srgbClr val="00838F"/>
                </a:solidFill>
                <a:latin typeface="Calibri"/>
                <a:ea typeface="Calibri"/>
                <a:cs typeface="Calibri"/>
                <a:sym typeface="Calibri"/>
              </a:rPr>
              <a:t>Deep Learning</a:t>
            </a:r>
            <a:r>
              <a:rPr b="0" i="1" lang="en-US" sz="1400" u="none" cap="none" strike="noStrike">
                <a:solidFill>
                  <a:srgbClr val="00838F"/>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2" name="Google Shape;22;p1"/>
          <p:cNvSpPr/>
          <p:nvPr/>
        </p:nvSpPr>
        <p:spPr>
          <a:xfrm>
            <a:off x="2286000" y="2926080"/>
            <a:ext cx="457200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457200" y="3035808"/>
            <a:ext cx="8229600" cy="3840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83593"/>
              </a:buClr>
              <a:buSzPts val="1150"/>
              <a:buFont typeface="Calibri"/>
              <a:buNone/>
            </a:pPr>
            <a:r>
              <a:rPr b="0" i="0" lang="en-US" sz="1450" u="none" cap="none" strike="noStrike">
                <a:solidFill>
                  <a:srgbClr val="283593"/>
                </a:solidFill>
                <a:latin typeface="Calibri"/>
                <a:ea typeface="Calibri"/>
                <a:cs typeface="Calibri"/>
                <a:sym typeface="Calibri"/>
              </a:rPr>
              <a:t>Aaron Jacob (25572001)  |  Aditi Gulati (25572002)  |  Rudra Pratap Masram (25572007)</a:t>
            </a:r>
            <a:endParaRPr b="0" i="0" sz="1450" u="none" cap="none" strike="noStrike">
              <a:solidFill>
                <a:schemeClr val="dk1"/>
              </a:solidFill>
              <a:latin typeface="Calibri"/>
              <a:ea typeface="Calibri"/>
              <a:cs typeface="Calibri"/>
              <a:sym typeface="Calibri"/>
            </a:endParaRPr>
          </a:p>
        </p:txBody>
      </p:sp>
      <p:sp>
        <p:nvSpPr>
          <p:cNvPr id="24" name="Google Shape;24;p1"/>
          <p:cNvSpPr/>
          <p:nvPr/>
        </p:nvSpPr>
        <p:spPr>
          <a:xfrm>
            <a:off x="0" y="4160520"/>
            <a:ext cx="9144000" cy="98298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457200" y="425196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0" i="0" lang="en-US" sz="1300" u="none" cap="none" strike="noStrike">
                <a:solidFill>
                  <a:srgbClr val="FFFFFF"/>
                </a:solidFill>
                <a:latin typeface="Calibri"/>
                <a:ea typeface="Calibri"/>
                <a:cs typeface="Calibri"/>
                <a:sym typeface="Calibri"/>
              </a:rPr>
              <a:t>Department of Applied Mathematics and Scientific Computing |  IIT Roorkee</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457200" y="461772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CC1"/>
              </a:buClr>
              <a:buSzPts val="900"/>
              <a:buFont typeface="Calibri"/>
              <a:buNone/>
            </a:pPr>
            <a:r>
              <a:rPr b="0" i="0" lang="en-US" sz="1300" u="none" cap="none" strike="noStrike">
                <a:solidFill>
                  <a:srgbClr val="00ACC1"/>
                </a:solidFill>
                <a:latin typeface="Calibri"/>
                <a:ea typeface="Calibri"/>
                <a:cs typeface="Calibri"/>
                <a:sym typeface="Calibri"/>
              </a:rPr>
              <a:t>April 2026</a:t>
            </a:r>
            <a:endParaRPr b="0" i="0" sz="1300" u="none" cap="none" strike="noStrike">
              <a:solidFill>
                <a:schemeClr val="dk1"/>
              </a:solidFill>
              <a:latin typeface="Calibri"/>
              <a:ea typeface="Calibri"/>
              <a:cs typeface="Calibri"/>
              <a:sym typeface="Calibri"/>
            </a:endParaRPr>
          </a:p>
        </p:txBody>
      </p:sp>
      <p:pic>
        <p:nvPicPr>
          <p:cNvPr id="27" name="Google Shape;27;p1" title="logo_color.jpg"/>
          <p:cNvPicPr preferRelativeResize="0"/>
          <p:nvPr/>
        </p:nvPicPr>
        <p:blipFill rotWithShape="1">
          <a:blip r:embed="rId3">
            <a:alphaModFix/>
          </a:blip>
          <a:srcRect b="0" l="0" r="0" t="0"/>
          <a:stretch/>
        </p:blipFill>
        <p:spPr>
          <a:xfrm>
            <a:off x="7984239" y="0"/>
            <a:ext cx="1024855" cy="1005849"/>
          </a:xfrm>
          <a:prstGeom prst="rect">
            <a:avLst/>
          </a:prstGeom>
          <a:solidFill>
            <a:srgbClr val="00838F"/>
          </a:solidFill>
          <a:ln cap="flat" cmpd="sng" w="19050">
            <a:solidFill>
              <a:srgbClr val="FFFFFF"/>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1469950" y="2473450"/>
            <a:ext cx="77724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36" name="Google Shape;36;p2"/>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41" name="Google Shape;41;p2"/>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2 / 22</a:t>
            </a:r>
            <a:endParaRPr b="0" i="0" sz="700" u="none" cap="none" strike="noStrike">
              <a:solidFill>
                <a:schemeClr val="dk1"/>
              </a:solidFill>
              <a:latin typeface="Calibri"/>
              <a:ea typeface="Calibri"/>
              <a:cs typeface="Calibri"/>
              <a:sym typeface="Calibri"/>
            </a:endParaRPr>
          </a:p>
        </p:txBody>
      </p:sp>
      <p:sp>
        <p:nvSpPr>
          <p:cNvPr id="42" name="Google Shape;42;p2"/>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Table of Contents</a:t>
            </a:r>
            <a:endParaRPr b="0" i="0" sz="2200" u="none" cap="none" strike="noStrike">
              <a:solidFill>
                <a:schemeClr val="dk1"/>
              </a:solidFill>
              <a:latin typeface="Calibri"/>
              <a:ea typeface="Calibri"/>
              <a:cs typeface="Calibri"/>
              <a:sym typeface="Calibri"/>
            </a:endParaRPr>
          </a:p>
        </p:txBody>
      </p:sp>
      <p:sp>
        <p:nvSpPr>
          <p:cNvPr id="43" name="Google Shape;43;p2"/>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274320" y="1143000"/>
            <a:ext cx="475488" cy="47548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274320" y="114300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46" name="Google Shape;46;p2"/>
          <p:cNvSpPr/>
          <p:nvPr/>
        </p:nvSpPr>
        <p:spPr>
          <a:xfrm>
            <a:off x="841248" y="117957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Introduction &amp; Problem Statement</a:t>
            </a:r>
            <a:endParaRPr b="0" i="0" sz="1300" u="none" cap="none" strike="noStrike">
              <a:solidFill>
                <a:schemeClr val="dk1"/>
              </a:solidFill>
              <a:latin typeface="Calibri"/>
              <a:ea typeface="Calibri"/>
              <a:cs typeface="Calibri"/>
              <a:sym typeface="Calibri"/>
            </a:endParaRPr>
          </a:p>
        </p:txBody>
      </p:sp>
      <p:sp>
        <p:nvSpPr>
          <p:cNvPr id="47" name="Google Shape;47;p2"/>
          <p:cNvSpPr/>
          <p:nvPr/>
        </p:nvSpPr>
        <p:spPr>
          <a:xfrm>
            <a:off x="274320" y="2011680"/>
            <a:ext cx="475488" cy="47548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274320" y="20116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49" name="Google Shape;49;p2"/>
          <p:cNvSpPr/>
          <p:nvPr/>
        </p:nvSpPr>
        <p:spPr>
          <a:xfrm>
            <a:off x="841248" y="204825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Dataset — GLID</a:t>
            </a:r>
            <a:endParaRPr b="0" i="0" sz="1300" u="none" cap="none" strike="noStrike">
              <a:solidFill>
                <a:schemeClr val="dk1"/>
              </a:solidFill>
              <a:latin typeface="Calibri"/>
              <a:ea typeface="Calibri"/>
              <a:cs typeface="Calibri"/>
              <a:sym typeface="Calibri"/>
            </a:endParaRPr>
          </a:p>
        </p:txBody>
      </p:sp>
      <p:sp>
        <p:nvSpPr>
          <p:cNvPr id="50" name="Google Shape;50;p2"/>
          <p:cNvSpPr/>
          <p:nvPr/>
        </p:nvSpPr>
        <p:spPr>
          <a:xfrm>
            <a:off x="274320" y="2880360"/>
            <a:ext cx="475488" cy="47548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274320" y="288036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52" name="Google Shape;52;p2"/>
          <p:cNvSpPr/>
          <p:nvPr/>
        </p:nvSpPr>
        <p:spPr>
          <a:xfrm>
            <a:off x="841248" y="291693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Methodology &amp; Pipeline</a:t>
            </a:r>
            <a:endParaRPr b="0" i="0" sz="1300" u="none" cap="none" strike="noStrike">
              <a:solidFill>
                <a:schemeClr val="dk1"/>
              </a:solidFill>
              <a:latin typeface="Calibri"/>
              <a:ea typeface="Calibri"/>
              <a:cs typeface="Calibri"/>
              <a:sym typeface="Calibri"/>
            </a:endParaRPr>
          </a:p>
        </p:txBody>
      </p:sp>
      <p:sp>
        <p:nvSpPr>
          <p:cNvPr id="53" name="Google Shape;53;p2"/>
          <p:cNvSpPr/>
          <p:nvPr/>
        </p:nvSpPr>
        <p:spPr>
          <a:xfrm>
            <a:off x="274320" y="3749040"/>
            <a:ext cx="475488" cy="47548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274320" y="374904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04</a:t>
            </a:r>
            <a:endParaRPr b="0" i="0" sz="1300" u="none" cap="none" strike="noStrike">
              <a:solidFill>
                <a:schemeClr val="dk1"/>
              </a:solidFill>
              <a:latin typeface="Calibri"/>
              <a:ea typeface="Calibri"/>
              <a:cs typeface="Calibri"/>
              <a:sym typeface="Calibri"/>
            </a:endParaRPr>
          </a:p>
        </p:txBody>
      </p:sp>
      <p:sp>
        <p:nvSpPr>
          <p:cNvPr id="55" name="Google Shape;55;p2"/>
          <p:cNvSpPr/>
          <p:nvPr/>
        </p:nvSpPr>
        <p:spPr>
          <a:xfrm>
            <a:off x="841248" y="378561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Model Architectures</a:t>
            </a:r>
            <a:endParaRPr b="0" i="0" sz="1300" u="none" cap="none" strike="noStrike">
              <a:solidFill>
                <a:schemeClr val="dk1"/>
              </a:solidFill>
              <a:latin typeface="Calibri"/>
              <a:ea typeface="Calibri"/>
              <a:cs typeface="Calibri"/>
              <a:sym typeface="Calibri"/>
            </a:endParaRPr>
          </a:p>
        </p:txBody>
      </p:sp>
      <p:sp>
        <p:nvSpPr>
          <p:cNvPr id="56" name="Google Shape;56;p2"/>
          <p:cNvSpPr/>
          <p:nvPr/>
        </p:nvSpPr>
        <p:spPr>
          <a:xfrm>
            <a:off x="4754880" y="1143000"/>
            <a:ext cx="475488" cy="47548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4754880" y="114300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05</a:t>
            </a:r>
            <a:endParaRPr b="0" i="0" sz="1300" u="none" cap="none" strike="noStrike">
              <a:solidFill>
                <a:schemeClr val="dk1"/>
              </a:solidFill>
              <a:latin typeface="Calibri"/>
              <a:ea typeface="Calibri"/>
              <a:cs typeface="Calibri"/>
              <a:sym typeface="Calibri"/>
            </a:endParaRPr>
          </a:p>
        </p:txBody>
      </p:sp>
      <p:sp>
        <p:nvSpPr>
          <p:cNvPr id="58" name="Google Shape;58;p2"/>
          <p:cNvSpPr/>
          <p:nvPr/>
        </p:nvSpPr>
        <p:spPr>
          <a:xfrm>
            <a:off x="5321808" y="117957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Training Configuration</a:t>
            </a:r>
            <a:endParaRPr b="0" i="0" sz="1300" u="none" cap="none" strike="noStrike">
              <a:solidFill>
                <a:schemeClr val="dk1"/>
              </a:solidFill>
              <a:latin typeface="Calibri"/>
              <a:ea typeface="Calibri"/>
              <a:cs typeface="Calibri"/>
              <a:sym typeface="Calibri"/>
            </a:endParaRPr>
          </a:p>
        </p:txBody>
      </p:sp>
      <p:sp>
        <p:nvSpPr>
          <p:cNvPr id="59" name="Google Shape;59;p2"/>
          <p:cNvSpPr/>
          <p:nvPr/>
        </p:nvSpPr>
        <p:spPr>
          <a:xfrm>
            <a:off x="4754880" y="2011680"/>
            <a:ext cx="475488" cy="47548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4754880" y="20116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06</a:t>
            </a:r>
            <a:endParaRPr b="0" i="0" sz="1300" u="none" cap="none" strike="noStrike">
              <a:solidFill>
                <a:schemeClr val="dk1"/>
              </a:solidFill>
              <a:latin typeface="Calibri"/>
              <a:ea typeface="Calibri"/>
              <a:cs typeface="Calibri"/>
              <a:sym typeface="Calibri"/>
            </a:endParaRPr>
          </a:p>
        </p:txBody>
      </p:sp>
      <p:sp>
        <p:nvSpPr>
          <p:cNvPr id="61" name="Google Shape;61;p2"/>
          <p:cNvSpPr/>
          <p:nvPr/>
        </p:nvSpPr>
        <p:spPr>
          <a:xfrm>
            <a:off x="5321808" y="204825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Evaluation Metrics</a:t>
            </a:r>
            <a:endParaRPr b="0" i="0" sz="1300" u="none" cap="none" strike="noStrike">
              <a:solidFill>
                <a:schemeClr val="dk1"/>
              </a:solidFill>
              <a:latin typeface="Calibri"/>
              <a:ea typeface="Calibri"/>
              <a:cs typeface="Calibri"/>
              <a:sym typeface="Calibri"/>
            </a:endParaRPr>
          </a:p>
        </p:txBody>
      </p:sp>
      <p:sp>
        <p:nvSpPr>
          <p:cNvPr id="62" name="Google Shape;62;p2"/>
          <p:cNvSpPr/>
          <p:nvPr/>
        </p:nvSpPr>
        <p:spPr>
          <a:xfrm>
            <a:off x="4754880" y="2880360"/>
            <a:ext cx="475488" cy="47548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4754880" y="288036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07</a:t>
            </a:r>
            <a:endParaRPr b="0" i="0" sz="1300" u="none" cap="none" strike="noStrike">
              <a:solidFill>
                <a:schemeClr val="dk1"/>
              </a:solidFill>
              <a:latin typeface="Calibri"/>
              <a:ea typeface="Calibri"/>
              <a:cs typeface="Calibri"/>
              <a:sym typeface="Calibri"/>
            </a:endParaRPr>
          </a:p>
        </p:txBody>
      </p:sp>
      <p:sp>
        <p:nvSpPr>
          <p:cNvPr id="64" name="Google Shape;64;p2"/>
          <p:cNvSpPr/>
          <p:nvPr/>
        </p:nvSpPr>
        <p:spPr>
          <a:xfrm>
            <a:off x="5321808" y="291693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Results &amp; Comparison</a:t>
            </a:r>
            <a:endParaRPr b="0" i="0" sz="1300" u="none" cap="none" strike="noStrike">
              <a:solidFill>
                <a:schemeClr val="dk1"/>
              </a:solidFill>
              <a:latin typeface="Calibri"/>
              <a:ea typeface="Calibri"/>
              <a:cs typeface="Calibri"/>
              <a:sym typeface="Calibri"/>
            </a:endParaRPr>
          </a:p>
        </p:txBody>
      </p:sp>
      <p:sp>
        <p:nvSpPr>
          <p:cNvPr id="65" name="Google Shape;65;p2"/>
          <p:cNvSpPr/>
          <p:nvPr/>
        </p:nvSpPr>
        <p:spPr>
          <a:xfrm>
            <a:off x="4754880" y="3749040"/>
            <a:ext cx="475488" cy="47548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4754880" y="374904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08</a:t>
            </a:r>
            <a:endParaRPr b="0" i="0" sz="1300" u="none" cap="none" strike="noStrike">
              <a:solidFill>
                <a:schemeClr val="dk1"/>
              </a:solidFill>
              <a:latin typeface="Calibri"/>
              <a:ea typeface="Calibri"/>
              <a:cs typeface="Calibri"/>
              <a:sym typeface="Calibri"/>
            </a:endParaRPr>
          </a:p>
        </p:txBody>
      </p:sp>
      <p:sp>
        <p:nvSpPr>
          <p:cNvPr id="67" name="Google Shape;67;p2"/>
          <p:cNvSpPr/>
          <p:nvPr/>
        </p:nvSpPr>
        <p:spPr>
          <a:xfrm>
            <a:off x="5321808" y="3785616"/>
            <a:ext cx="347472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Conclusion &amp; Future Work</a:t>
            </a:r>
            <a:endParaRPr b="0" i="0" sz="1300" u="none" cap="none" strike="noStrike">
              <a:solidFill>
                <a:schemeClr val="dk1"/>
              </a:solidFill>
              <a:latin typeface="Calibri"/>
              <a:ea typeface="Calibri"/>
              <a:cs typeface="Calibri"/>
              <a:sym typeface="Calibri"/>
            </a:endParaRPr>
          </a:p>
        </p:txBody>
      </p:sp>
      <p:sp>
        <p:nvSpPr>
          <p:cNvPr id="68" name="Google Shape;68;p2"/>
          <p:cNvSpPr/>
          <p:nvPr/>
        </p:nvSpPr>
        <p:spPr>
          <a:xfrm>
            <a:off x="4526280" y="1143000"/>
            <a:ext cx="27432" cy="347472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274325" y="9138"/>
            <a:ext cx="77724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77" name="Google Shape;77;p3"/>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82" name="Google Shape;82;p3"/>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3 / 22</a:t>
            </a:r>
            <a:endParaRPr b="0" i="0" sz="700" u="none" cap="none" strike="noStrike">
              <a:solidFill>
                <a:schemeClr val="dk1"/>
              </a:solidFill>
              <a:latin typeface="Calibri"/>
              <a:ea typeface="Calibri"/>
              <a:cs typeface="Calibri"/>
              <a:sym typeface="Calibri"/>
            </a:endParaRPr>
          </a:p>
        </p:txBody>
      </p:sp>
      <p:sp>
        <p:nvSpPr>
          <p:cNvPr id="83" name="Google Shape;83;p3"/>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Introduction &amp; Problem Statement</a:t>
            </a:r>
            <a:endParaRPr b="0" i="0" sz="2200" u="none" cap="none" strike="noStrike">
              <a:solidFill>
                <a:schemeClr val="dk1"/>
              </a:solidFill>
              <a:latin typeface="Calibri"/>
              <a:ea typeface="Calibri"/>
              <a:cs typeface="Calibri"/>
              <a:sym typeface="Calibri"/>
            </a:endParaRPr>
          </a:p>
        </p:txBody>
      </p:sp>
      <p:sp>
        <p:nvSpPr>
          <p:cNvPr id="84" name="Google Shape;84;p3"/>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a:off x="274320" y="1170432"/>
            <a:ext cx="2788920" cy="3520440"/>
          </a:xfrm>
          <a:prstGeom prst="rect">
            <a:avLst/>
          </a:prstGeom>
          <a:solidFill>
            <a:srgbClr val="E8EAF6"/>
          </a:solidFill>
          <a:ln cap="flat" cmpd="sng" w="9525">
            <a:solidFill>
              <a:srgbClr val="1A235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a:off x="274320" y="1170432"/>
            <a:ext cx="2788920" cy="73152"/>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a:off x="274320" y="1261872"/>
            <a:ext cx="278892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88" name="Google Shape;88;p3"/>
          <p:cNvSpPr/>
          <p:nvPr/>
        </p:nvSpPr>
        <p:spPr>
          <a:xfrm>
            <a:off x="384048" y="1920240"/>
            <a:ext cx="2578608"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57"/>
              </a:buClr>
              <a:buSzPts val="1400"/>
              <a:buFont typeface="Calibri"/>
              <a:buNone/>
            </a:pPr>
            <a:r>
              <a:rPr b="1" i="0" lang="en-US" sz="1400" u="none" cap="none" strike="noStrike">
                <a:solidFill>
                  <a:srgbClr val="1A2357"/>
                </a:solidFill>
                <a:latin typeface="Calibri"/>
                <a:ea typeface="Calibri"/>
                <a:cs typeface="Calibri"/>
                <a:sym typeface="Calibri"/>
              </a:rPr>
              <a:t>The Challenge</a:t>
            </a:r>
            <a:endParaRPr b="0" i="0" sz="1400" u="none" cap="none" strike="noStrike">
              <a:solidFill>
                <a:schemeClr val="dk1"/>
              </a:solidFill>
              <a:latin typeface="Calibri"/>
              <a:ea typeface="Calibri"/>
              <a:cs typeface="Calibri"/>
              <a:sym typeface="Calibri"/>
            </a:endParaRPr>
          </a:p>
        </p:txBody>
      </p:sp>
      <p:sp>
        <p:nvSpPr>
          <p:cNvPr id="89" name="Google Shape;89;p3"/>
          <p:cNvSpPr/>
          <p:nvPr/>
        </p:nvSpPr>
        <p:spPr>
          <a:xfrm>
            <a:off x="640080" y="2331720"/>
            <a:ext cx="2057400" cy="2286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p:nvPr/>
        </p:nvSpPr>
        <p:spPr>
          <a:xfrm>
            <a:off x="384048" y="2377440"/>
            <a:ext cx="2578608" cy="21945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150"/>
              <a:buFont typeface="Calibri"/>
              <a:buNone/>
            </a:pPr>
            <a:r>
              <a:rPr b="0" i="0" lang="en-US" sz="1150" u="none" cap="none" strike="noStrike">
                <a:solidFill>
                  <a:srgbClr val="212121"/>
                </a:solidFill>
                <a:latin typeface="Calibri"/>
                <a:ea typeface="Calibri"/>
                <a:cs typeface="Calibri"/>
                <a:sym typeface="Calibri"/>
              </a:rPr>
              <a:t>Glaciers retreating globally due to rising temperatures. Himalayan region severely impacted, creating glacial lakes that pose GLOF risk.</a:t>
            </a:r>
            <a:endParaRPr b="0" i="0" sz="1150" u="none" cap="none" strike="noStrike">
              <a:solidFill>
                <a:schemeClr val="dk1"/>
              </a:solidFill>
              <a:latin typeface="Calibri"/>
              <a:ea typeface="Calibri"/>
              <a:cs typeface="Calibri"/>
              <a:sym typeface="Calibri"/>
            </a:endParaRPr>
          </a:p>
        </p:txBody>
      </p:sp>
      <p:sp>
        <p:nvSpPr>
          <p:cNvPr id="91" name="Google Shape;91;p3"/>
          <p:cNvSpPr/>
          <p:nvPr/>
        </p:nvSpPr>
        <p:spPr>
          <a:xfrm>
            <a:off x="3246120" y="1170432"/>
            <a:ext cx="2788920" cy="3520440"/>
          </a:xfrm>
          <a:prstGeom prst="rect">
            <a:avLst/>
          </a:prstGeom>
          <a:solidFill>
            <a:srgbClr val="E0F7FA"/>
          </a:solidFill>
          <a:ln cap="flat" cmpd="sng" w="9525">
            <a:solidFill>
              <a:srgbClr val="1A235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
          <p:cNvSpPr/>
          <p:nvPr/>
        </p:nvSpPr>
        <p:spPr>
          <a:xfrm>
            <a:off x="3246120" y="1170432"/>
            <a:ext cx="2788920" cy="73152"/>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p:nvPr/>
        </p:nvSpPr>
        <p:spPr>
          <a:xfrm>
            <a:off x="3246120" y="1261872"/>
            <a:ext cx="278892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94" name="Google Shape;94;p3"/>
          <p:cNvSpPr/>
          <p:nvPr/>
        </p:nvSpPr>
        <p:spPr>
          <a:xfrm>
            <a:off x="3355848" y="1920240"/>
            <a:ext cx="2578608"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57"/>
              </a:buClr>
              <a:buSzPts val="1400"/>
              <a:buFont typeface="Calibri"/>
              <a:buNone/>
            </a:pPr>
            <a:r>
              <a:rPr b="1" i="0" lang="en-US" sz="1400" u="none" cap="none" strike="noStrike">
                <a:solidFill>
                  <a:srgbClr val="1A2357"/>
                </a:solidFill>
                <a:latin typeface="Calibri"/>
                <a:ea typeface="Calibri"/>
                <a:cs typeface="Calibri"/>
                <a:sym typeface="Calibri"/>
              </a:rPr>
              <a:t>Traditional Limitations</a:t>
            </a:r>
            <a:endParaRPr b="0" i="0" sz="1400" u="none" cap="none" strike="noStrike">
              <a:solidFill>
                <a:schemeClr val="dk1"/>
              </a:solidFill>
              <a:latin typeface="Calibri"/>
              <a:ea typeface="Calibri"/>
              <a:cs typeface="Calibri"/>
              <a:sym typeface="Calibri"/>
            </a:endParaRPr>
          </a:p>
        </p:txBody>
      </p:sp>
      <p:sp>
        <p:nvSpPr>
          <p:cNvPr id="95" name="Google Shape;95;p3"/>
          <p:cNvSpPr/>
          <p:nvPr/>
        </p:nvSpPr>
        <p:spPr>
          <a:xfrm>
            <a:off x="3611880" y="2331720"/>
            <a:ext cx="2057400" cy="2286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a:off x="3355848" y="2377440"/>
            <a:ext cx="2578608" cy="21945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150"/>
              <a:buFont typeface="Calibri"/>
              <a:buNone/>
            </a:pPr>
            <a:r>
              <a:rPr b="0" i="0" lang="en-US" sz="1150" u="none" cap="none" strike="noStrike">
                <a:solidFill>
                  <a:srgbClr val="212121"/>
                </a:solidFill>
                <a:latin typeface="Calibri"/>
                <a:ea typeface="Calibri"/>
                <a:cs typeface="Calibri"/>
                <a:sym typeface="Calibri"/>
              </a:rPr>
              <a:t>Manual satellite imagery interpretation is time-consuming, labor-intensive, and error-prone. Spectral indices need auxiliary data.</a:t>
            </a:r>
            <a:endParaRPr b="0" i="0" sz="1150" u="none" cap="none" strike="noStrike">
              <a:solidFill>
                <a:schemeClr val="dk1"/>
              </a:solidFill>
              <a:latin typeface="Calibri"/>
              <a:ea typeface="Calibri"/>
              <a:cs typeface="Calibri"/>
              <a:sym typeface="Calibri"/>
            </a:endParaRPr>
          </a:p>
        </p:txBody>
      </p:sp>
      <p:sp>
        <p:nvSpPr>
          <p:cNvPr id="97" name="Google Shape;97;p3"/>
          <p:cNvSpPr/>
          <p:nvPr/>
        </p:nvSpPr>
        <p:spPr>
          <a:xfrm>
            <a:off x="6217920" y="1170432"/>
            <a:ext cx="2788920" cy="3520440"/>
          </a:xfrm>
          <a:prstGeom prst="rect">
            <a:avLst/>
          </a:prstGeom>
          <a:solidFill>
            <a:srgbClr val="FFF3E0"/>
          </a:solidFill>
          <a:ln cap="flat" cmpd="sng" w="9525">
            <a:solidFill>
              <a:srgbClr val="1A235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a:off x="6217920" y="1170432"/>
            <a:ext cx="2788920" cy="73152"/>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
          <p:cNvSpPr/>
          <p:nvPr/>
        </p:nvSpPr>
        <p:spPr>
          <a:xfrm>
            <a:off x="6217920" y="1261872"/>
            <a:ext cx="278892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100" name="Google Shape;100;p3"/>
          <p:cNvSpPr/>
          <p:nvPr/>
        </p:nvSpPr>
        <p:spPr>
          <a:xfrm>
            <a:off x="6327648" y="1920240"/>
            <a:ext cx="2578608"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57"/>
              </a:buClr>
              <a:buSzPts val="1400"/>
              <a:buFont typeface="Calibri"/>
              <a:buNone/>
            </a:pPr>
            <a:r>
              <a:rPr b="1" i="0" lang="en-US" sz="1400" u="none" cap="none" strike="noStrike">
                <a:solidFill>
                  <a:srgbClr val="1A2357"/>
                </a:solidFill>
                <a:latin typeface="Calibri"/>
                <a:ea typeface="Calibri"/>
                <a:cs typeface="Calibri"/>
                <a:sym typeface="Calibri"/>
              </a:rPr>
              <a:t>Deep Learning Solution</a:t>
            </a:r>
            <a:endParaRPr b="0" i="0" sz="1400" u="none" cap="none" strike="noStrike">
              <a:solidFill>
                <a:schemeClr val="dk1"/>
              </a:solidFill>
              <a:latin typeface="Calibri"/>
              <a:ea typeface="Calibri"/>
              <a:cs typeface="Calibri"/>
              <a:sym typeface="Calibri"/>
            </a:endParaRPr>
          </a:p>
        </p:txBody>
      </p:sp>
      <p:sp>
        <p:nvSpPr>
          <p:cNvPr id="101" name="Google Shape;101;p3"/>
          <p:cNvSpPr/>
          <p:nvPr/>
        </p:nvSpPr>
        <p:spPr>
          <a:xfrm>
            <a:off x="6583680" y="2331720"/>
            <a:ext cx="2057400" cy="2286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a:off x="6327648" y="2377440"/>
            <a:ext cx="2578608" cy="21945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150"/>
              <a:buFont typeface="Calibri"/>
              <a:buNone/>
            </a:pPr>
            <a:r>
              <a:rPr b="0" i="0" lang="en-US" sz="1150" u="none" cap="none" strike="noStrike">
                <a:solidFill>
                  <a:srgbClr val="212121"/>
                </a:solidFill>
                <a:latin typeface="Calibri"/>
                <a:ea typeface="Calibri"/>
                <a:cs typeface="Calibri"/>
                <a:sym typeface="Calibri"/>
              </a:rPr>
              <a:t>Semantic segmentation models perform pixel-level classification for precise lake extraction — scalable and automated.</a:t>
            </a:r>
            <a:endParaRPr b="0" i="0" sz="1150" u="none" cap="none" strike="noStrike">
              <a:solidFill>
                <a:schemeClr val="dk1"/>
              </a:solidFill>
              <a:latin typeface="Calibri"/>
              <a:ea typeface="Calibri"/>
              <a:cs typeface="Calibri"/>
              <a:sym typeface="Calibri"/>
            </a:endParaRPr>
          </a:p>
        </p:txBody>
      </p:sp>
      <p:sp>
        <p:nvSpPr>
          <p:cNvPr id="103" name="Google Shape;103;p3"/>
          <p:cNvSpPr/>
          <p:nvPr/>
        </p:nvSpPr>
        <p:spPr>
          <a:xfrm>
            <a:off x="274320" y="4681728"/>
            <a:ext cx="859536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83593"/>
              </a:buClr>
              <a:buSzPts val="1000"/>
              <a:buFont typeface="Calibri"/>
              <a:buNone/>
            </a:pPr>
            <a:r>
              <a:rPr b="1" i="1" lang="en-US" sz="1000" u="none" cap="none" strike="noStrike">
                <a:solidFill>
                  <a:srgbClr val="283593"/>
                </a:solidFill>
                <a:latin typeface="Calibri"/>
                <a:ea typeface="Calibri"/>
                <a:cs typeface="Calibri"/>
                <a:sym typeface="Calibri"/>
              </a:rPr>
              <a:t>Objective: Implement and compare U-Net, DeepLabV3, and Swin Transformer for automated glacial lake segmentation.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112" name="Google Shape;112;p4"/>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117" name="Google Shape;117;p4"/>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4 / 22</a:t>
            </a:r>
            <a:endParaRPr b="0" i="0" sz="700" u="none" cap="none" strike="noStrike">
              <a:solidFill>
                <a:schemeClr val="dk1"/>
              </a:solidFill>
              <a:latin typeface="Calibri"/>
              <a:ea typeface="Calibri"/>
              <a:cs typeface="Calibri"/>
              <a:sym typeface="Calibri"/>
            </a:endParaRPr>
          </a:p>
        </p:txBody>
      </p:sp>
      <p:sp>
        <p:nvSpPr>
          <p:cNvPr id="118" name="Google Shape;118;p4"/>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Dataset — GLID (Glacial Lake Inventory Dataset)</a:t>
            </a:r>
            <a:endParaRPr b="0" i="0" sz="2200" u="none" cap="none" strike="noStrike">
              <a:solidFill>
                <a:schemeClr val="dk1"/>
              </a:solidFill>
              <a:latin typeface="Calibri"/>
              <a:ea typeface="Calibri"/>
              <a:cs typeface="Calibri"/>
              <a:sym typeface="Calibri"/>
            </a:endParaRPr>
          </a:p>
        </p:txBody>
      </p:sp>
      <p:sp>
        <p:nvSpPr>
          <p:cNvPr id="119" name="Google Shape;119;p4"/>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274320" y="1188720"/>
            <a:ext cx="1920240" cy="1097280"/>
          </a:xfrm>
          <a:prstGeom prst="rect">
            <a:avLst/>
          </a:prstGeom>
          <a:solidFill>
            <a:srgbClr val="1A2357"/>
          </a:solidFill>
          <a:ln cap="flat" cmpd="sng" w="12700">
            <a:solidFill>
              <a:srgbClr val="1A2357"/>
            </a:solidFill>
            <a:prstDash val="solid"/>
            <a:round/>
            <a:headEnd len="sm" w="sm" type="none"/>
            <a:tailEnd len="sm" w="sm" type="none"/>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274320" y="128016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ACC1"/>
              </a:buClr>
              <a:buSzPts val="2200"/>
              <a:buFont typeface="Calibri"/>
              <a:buNone/>
            </a:pPr>
            <a:r>
              <a:rPr b="1" i="0" lang="en-US" sz="2200" u="none" cap="none" strike="noStrike">
                <a:solidFill>
                  <a:srgbClr val="00ACC1"/>
                </a:solidFill>
                <a:latin typeface="Calibri"/>
                <a:ea typeface="Calibri"/>
                <a:cs typeface="Calibri"/>
                <a:sym typeface="Calibri"/>
              </a:rPr>
              <a:t>18,367</a:t>
            </a:r>
            <a:endParaRPr b="0" i="0" sz="2200" u="none" cap="none" strike="noStrike">
              <a:solidFill>
                <a:schemeClr val="dk1"/>
              </a:solidFill>
              <a:latin typeface="Calibri"/>
              <a:ea typeface="Calibri"/>
              <a:cs typeface="Calibri"/>
              <a:sym typeface="Calibri"/>
            </a:endParaRPr>
          </a:p>
        </p:txBody>
      </p:sp>
      <p:sp>
        <p:nvSpPr>
          <p:cNvPr id="122" name="Google Shape;122;p4"/>
          <p:cNvSpPr/>
          <p:nvPr/>
        </p:nvSpPr>
        <p:spPr>
          <a:xfrm>
            <a:off x="274320" y="1874520"/>
            <a:ext cx="192024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Total Samples</a:t>
            </a:r>
            <a:endParaRPr b="0" i="0" sz="950" u="none" cap="none" strike="noStrike">
              <a:solidFill>
                <a:schemeClr val="dk1"/>
              </a:solidFill>
              <a:latin typeface="Calibri"/>
              <a:ea typeface="Calibri"/>
              <a:cs typeface="Calibri"/>
              <a:sym typeface="Calibri"/>
            </a:endParaRPr>
          </a:p>
        </p:txBody>
      </p:sp>
      <p:sp>
        <p:nvSpPr>
          <p:cNvPr id="123" name="Google Shape;123;p4"/>
          <p:cNvSpPr/>
          <p:nvPr/>
        </p:nvSpPr>
        <p:spPr>
          <a:xfrm>
            <a:off x="2468880" y="1188720"/>
            <a:ext cx="1920240" cy="1097280"/>
          </a:xfrm>
          <a:prstGeom prst="rect">
            <a:avLst/>
          </a:prstGeom>
          <a:solidFill>
            <a:srgbClr val="1A2357"/>
          </a:solidFill>
          <a:ln cap="flat" cmpd="sng" w="12700">
            <a:solidFill>
              <a:srgbClr val="1A2357"/>
            </a:solidFill>
            <a:prstDash val="solid"/>
            <a:round/>
            <a:headEnd len="sm" w="sm" type="none"/>
            <a:tailEnd len="sm" w="sm" type="none"/>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a:off x="2468880" y="128016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ACC1"/>
              </a:buClr>
              <a:buSzPts val="2200"/>
              <a:buFont typeface="Calibri"/>
              <a:buNone/>
            </a:pPr>
            <a:r>
              <a:rPr b="1" i="0" lang="en-US" sz="2200" u="none" cap="none" strike="noStrike">
                <a:solidFill>
                  <a:srgbClr val="00ACC1"/>
                </a:solidFill>
                <a:latin typeface="Calibri"/>
                <a:ea typeface="Calibri"/>
                <a:cs typeface="Calibri"/>
                <a:sym typeface="Calibri"/>
              </a:rPr>
              <a:t>512×512</a:t>
            </a:r>
            <a:endParaRPr b="0" i="0" sz="2200" u="none" cap="none" strike="noStrike">
              <a:solidFill>
                <a:schemeClr val="dk1"/>
              </a:solidFill>
              <a:latin typeface="Calibri"/>
              <a:ea typeface="Calibri"/>
              <a:cs typeface="Calibri"/>
              <a:sym typeface="Calibri"/>
            </a:endParaRPr>
          </a:p>
        </p:txBody>
      </p:sp>
      <p:sp>
        <p:nvSpPr>
          <p:cNvPr id="125" name="Google Shape;125;p4"/>
          <p:cNvSpPr/>
          <p:nvPr/>
        </p:nvSpPr>
        <p:spPr>
          <a:xfrm>
            <a:off x="2468880" y="1874520"/>
            <a:ext cx="192024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Image Resolution (px)</a:t>
            </a:r>
            <a:endParaRPr b="0" i="0" sz="950" u="none" cap="none" strike="noStrike">
              <a:solidFill>
                <a:schemeClr val="dk1"/>
              </a:solidFill>
              <a:latin typeface="Calibri"/>
              <a:ea typeface="Calibri"/>
              <a:cs typeface="Calibri"/>
              <a:sym typeface="Calibri"/>
            </a:endParaRPr>
          </a:p>
        </p:txBody>
      </p:sp>
      <p:sp>
        <p:nvSpPr>
          <p:cNvPr id="126" name="Google Shape;126;p4"/>
          <p:cNvSpPr/>
          <p:nvPr/>
        </p:nvSpPr>
        <p:spPr>
          <a:xfrm>
            <a:off x="274320" y="2560320"/>
            <a:ext cx="1920240" cy="1097280"/>
          </a:xfrm>
          <a:prstGeom prst="rect">
            <a:avLst/>
          </a:prstGeom>
          <a:solidFill>
            <a:srgbClr val="1A2357"/>
          </a:solidFill>
          <a:ln cap="flat" cmpd="sng" w="12700">
            <a:solidFill>
              <a:srgbClr val="1A2357"/>
            </a:solidFill>
            <a:prstDash val="solid"/>
            <a:round/>
            <a:headEnd len="sm" w="sm" type="none"/>
            <a:tailEnd len="sm" w="sm" type="none"/>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a:off x="274320" y="265176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ACC1"/>
              </a:buClr>
              <a:buSzPts val="2200"/>
              <a:buFont typeface="Calibri"/>
              <a:buNone/>
            </a:pPr>
            <a:r>
              <a:rPr b="1" i="0" lang="en-US" sz="2200" u="none" cap="none" strike="noStrike">
                <a:solidFill>
                  <a:srgbClr val="00ACC1"/>
                </a:solidFill>
                <a:latin typeface="Calibri"/>
                <a:ea typeface="Calibri"/>
                <a:cs typeface="Calibri"/>
                <a:sym typeface="Calibri"/>
              </a:rPr>
              <a:t>4</a:t>
            </a:r>
            <a:endParaRPr b="0" i="0" sz="2200" u="none" cap="none" strike="noStrike">
              <a:solidFill>
                <a:schemeClr val="dk1"/>
              </a:solidFill>
              <a:latin typeface="Calibri"/>
              <a:ea typeface="Calibri"/>
              <a:cs typeface="Calibri"/>
              <a:sym typeface="Calibri"/>
            </a:endParaRPr>
          </a:p>
        </p:txBody>
      </p:sp>
      <p:sp>
        <p:nvSpPr>
          <p:cNvPr id="128" name="Google Shape;128;p4"/>
          <p:cNvSpPr/>
          <p:nvPr/>
        </p:nvSpPr>
        <p:spPr>
          <a:xfrm>
            <a:off x="274320" y="3246120"/>
            <a:ext cx="192024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Lake Categories</a:t>
            </a:r>
            <a:endParaRPr b="0" i="0" sz="950" u="none" cap="none" strike="noStrike">
              <a:solidFill>
                <a:schemeClr val="dk1"/>
              </a:solidFill>
              <a:latin typeface="Calibri"/>
              <a:ea typeface="Calibri"/>
              <a:cs typeface="Calibri"/>
              <a:sym typeface="Calibri"/>
            </a:endParaRPr>
          </a:p>
        </p:txBody>
      </p:sp>
      <p:sp>
        <p:nvSpPr>
          <p:cNvPr id="129" name="Google Shape;129;p4"/>
          <p:cNvSpPr/>
          <p:nvPr/>
        </p:nvSpPr>
        <p:spPr>
          <a:xfrm>
            <a:off x="2468880" y="2560320"/>
            <a:ext cx="1920240" cy="1097280"/>
          </a:xfrm>
          <a:prstGeom prst="rect">
            <a:avLst/>
          </a:prstGeom>
          <a:solidFill>
            <a:srgbClr val="1A2357"/>
          </a:solidFill>
          <a:ln cap="flat" cmpd="sng" w="12700">
            <a:solidFill>
              <a:srgbClr val="1A2357"/>
            </a:solidFill>
            <a:prstDash val="solid"/>
            <a:round/>
            <a:headEnd len="sm" w="sm" type="none"/>
            <a:tailEnd len="sm" w="sm" type="none"/>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
          <p:cNvSpPr/>
          <p:nvPr/>
        </p:nvSpPr>
        <p:spPr>
          <a:xfrm>
            <a:off x="2468880" y="265176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ACC1"/>
              </a:buClr>
              <a:buSzPts val="2200"/>
              <a:buFont typeface="Calibri"/>
              <a:buNone/>
            </a:pPr>
            <a:r>
              <a:rPr b="1" i="0" lang="en-US" sz="2200" u="none" cap="none" strike="noStrike">
                <a:solidFill>
                  <a:srgbClr val="00ACC1"/>
                </a:solidFill>
                <a:latin typeface="Calibri"/>
                <a:ea typeface="Calibri"/>
                <a:cs typeface="Calibri"/>
                <a:sym typeface="Calibri"/>
              </a:rPr>
              <a:t>80/10/10%</a:t>
            </a:r>
            <a:endParaRPr b="0" i="0" sz="2200" u="none" cap="none" strike="noStrike">
              <a:solidFill>
                <a:schemeClr val="dk1"/>
              </a:solidFill>
              <a:latin typeface="Calibri"/>
              <a:ea typeface="Calibri"/>
              <a:cs typeface="Calibri"/>
              <a:sym typeface="Calibri"/>
            </a:endParaRPr>
          </a:p>
        </p:txBody>
      </p:sp>
      <p:sp>
        <p:nvSpPr>
          <p:cNvPr id="131" name="Google Shape;131;p4"/>
          <p:cNvSpPr/>
          <p:nvPr/>
        </p:nvSpPr>
        <p:spPr>
          <a:xfrm>
            <a:off x="2468880" y="3246120"/>
            <a:ext cx="192024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Train / Val / Test Split</a:t>
            </a:r>
            <a:endParaRPr b="0" i="0" sz="950" u="none" cap="none" strike="noStrike">
              <a:solidFill>
                <a:schemeClr val="dk1"/>
              </a:solidFill>
              <a:latin typeface="Calibri"/>
              <a:ea typeface="Calibri"/>
              <a:cs typeface="Calibri"/>
              <a:sym typeface="Calibri"/>
            </a:endParaRPr>
          </a:p>
        </p:txBody>
      </p:sp>
      <p:sp>
        <p:nvSpPr>
          <p:cNvPr id="132" name="Google Shape;132;p4"/>
          <p:cNvSpPr/>
          <p:nvPr/>
        </p:nvSpPr>
        <p:spPr>
          <a:xfrm>
            <a:off x="4663440" y="1143000"/>
            <a:ext cx="4206240" cy="3657600"/>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4663440" y="1143000"/>
            <a:ext cx="4206240" cy="402336"/>
          </a:xfrm>
          <a:prstGeom prst="rect">
            <a:avLst/>
          </a:prstGeom>
          <a:solidFill>
            <a:srgbClr val="00838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Lake Categories</a:t>
            </a:r>
            <a:endParaRPr b="0" i="0" sz="1300" u="none" cap="none" strike="noStrike">
              <a:solidFill>
                <a:schemeClr val="dk1"/>
              </a:solidFill>
              <a:latin typeface="Calibri"/>
              <a:ea typeface="Calibri"/>
              <a:cs typeface="Calibri"/>
              <a:sym typeface="Calibri"/>
            </a:endParaRPr>
          </a:p>
        </p:txBody>
      </p:sp>
      <p:sp>
        <p:nvSpPr>
          <p:cNvPr id="134" name="Google Shape;134;p4"/>
          <p:cNvSpPr/>
          <p:nvPr/>
        </p:nvSpPr>
        <p:spPr>
          <a:xfrm>
            <a:off x="4754880" y="1609344"/>
            <a:ext cx="91440" cy="402336"/>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4956048" y="1627632"/>
            <a:ext cx="3749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150"/>
              <a:buFont typeface="Calibri"/>
              <a:buNone/>
            </a:pPr>
            <a:r>
              <a:rPr b="1" i="0" lang="en-US" sz="1150" u="none" cap="none" strike="noStrike">
                <a:solidFill>
                  <a:srgbClr val="1A2357"/>
                </a:solidFill>
                <a:latin typeface="Calibri"/>
                <a:ea typeface="Calibri"/>
                <a:cs typeface="Calibri"/>
                <a:sym typeface="Calibri"/>
              </a:rPr>
              <a:t>Supraglacial Lakes</a:t>
            </a:r>
            <a:endParaRPr b="0" i="0" sz="1150" u="none" cap="none" strike="noStrike">
              <a:solidFill>
                <a:schemeClr val="dk1"/>
              </a:solidFill>
              <a:latin typeface="Calibri"/>
              <a:ea typeface="Calibri"/>
              <a:cs typeface="Calibri"/>
              <a:sym typeface="Calibri"/>
            </a:endParaRPr>
          </a:p>
        </p:txBody>
      </p:sp>
      <p:sp>
        <p:nvSpPr>
          <p:cNvPr id="136" name="Google Shape;136;p4"/>
          <p:cNvSpPr/>
          <p:nvPr/>
        </p:nvSpPr>
        <p:spPr>
          <a:xfrm>
            <a:off x="4956048" y="1828800"/>
            <a:ext cx="3749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950"/>
              <a:buFont typeface="Calibri"/>
              <a:buNone/>
            </a:pPr>
            <a:r>
              <a:rPr b="0" i="0" lang="en-US" sz="950" u="none" cap="none" strike="noStrike">
                <a:solidFill>
                  <a:srgbClr val="546E7A"/>
                </a:solidFill>
                <a:latin typeface="Calibri"/>
                <a:ea typeface="Calibri"/>
                <a:cs typeface="Calibri"/>
                <a:sym typeface="Calibri"/>
              </a:rPr>
              <a:t>Form on glacier surface; rapid drainage risk</a:t>
            </a:r>
            <a:endParaRPr b="0" i="0" sz="950" u="none" cap="none" strike="noStrike">
              <a:solidFill>
                <a:schemeClr val="dk1"/>
              </a:solidFill>
              <a:latin typeface="Calibri"/>
              <a:ea typeface="Calibri"/>
              <a:cs typeface="Calibri"/>
              <a:sym typeface="Calibri"/>
            </a:endParaRPr>
          </a:p>
        </p:txBody>
      </p:sp>
      <p:sp>
        <p:nvSpPr>
          <p:cNvPr id="137" name="Google Shape;137;p4"/>
          <p:cNvSpPr/>
          <p:nvPr/>
        </p:nvSpPr>
        <p:spPr>
          <a:xfrm>
            <a:off x="4754880" y="2267712"/>
            <a:ext cx="91440" cy="402336"/>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4956048" y="2286000"/>
            <a:ext cx="3749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150"/>
              <a:buFont typeface="Calibri"/>
              <a:buNone/>
            </a:pPr>
            <a:r>
              <a:rPr b="1" i="0" lang="en-US" sz="1150" u="none" cap="none" strike="noStrike">
                <a:solidFill>
                  <a:srgbClr val="1A2357"/>
                </a:solidFill>
                <a:latin typeface="Calibri"/>
                <a:ea typeface="Calibri"/>
                <a:cs typeface="Calibri"/>
                <a:sym typeface="Calibri"/>
              </a:rPr>
              <a:t>Proglacial Lakes</a:t>
            </a:r>
            <a:endParaRPr b="0" i="0" sz="1150" u="none" cap="none" strike="noStrike">
              <a:solidFill>
                <a:schemeClr val="dk1"/>
              </a:solidFill>
              <a:latin typeface="Calibri"/>
              <a:ea typeface="Calibri"/>
              <a:cs typeface="Calibri"/>
              <a:sym typeface="Calibri"/>
            </a:endParaRPr>
          </a:p>
        </p:txBody>
      </p:sp>
      <p:sp>
        <p:nvSpPr>
          <p:cNvPr id="139" name="Google Shape;139;p4"/>
          <p:cNvSpPr/>
          <p:nvPr/>
        </p:nvSpPr>
        <p:spPr>
          <a:xfrm>
            <a:off x="4956048" y="2487168"/>
            <a:ext cx="3749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950"/>
              <a:buFont typeface="Calibri"/>
              <a:buNone/>
            </a:pPr>
            <a:r>
              <a:rPr b="0" i="0" lang="en-US" sz="950" u="none" cap="none" strike="noStrike">
                <a:solidFill>
                  <a:srgbClr val="546E7A"/>
                </a:solidFill>
                <a:latin typeface="Calibri"/>
                <a:ea typeface="Calibri"/>
                <a:cs typeface="Calibri"/>
                <a:sym typeface="Calibri"/>
              </a:rPr>
              <a:t>At glacier terminus; major GLOF source</a:t>
            </a:r>
            <a:endParaRPr b="0" i="0" sz="950" u="none" cap="none" strike="noStrike">
              <a:solidFill>
                <a:schemeClr val="dk1"/>
              </a:solidFill>
              <a:latin typeface="Calibri"/>
              <a:ea typeface="Calibri"/>
              <a:cs typeface="Calibri"/>
              <a:sym typeface="Calibri"/>
            </a:endParaRPr>
          </a:p>
        </p:txBody>
      </p:sp>
      <p:sp>
        <p:nvSpPr>
          <p:cNvPr id="140" name="Google Shape;140;p4"/>
          <p:cNvSpPr/>
          <p:nvPr/>
        </p:nvSpPr>
        <p:spPr>
          <a:xfrm>
            <a:off x="4754880" y="2926080"/>
            <a:ext cx="91440" cy="402336"/>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
          <p:cNvSpPr/>
          <p:nvPr/>
        </p:nvSpPr>
        <p:spPr>
          <a:xfrm>
            <a:off x="4956048" y="2944368"/>
            <a:ext cx="3749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150"/>
              <a:buFont typeface="Calibri"/>
              <a:buNone/>
            </a:pPr>
            <a:r>
              <a:rPr b="1" i="0" lang="en-US" sz="1150" u="none" cap="none" strike="noStrike">
                <a:solidFill>
                  <a:srgbClr val="1A2357"/>
                </a:solidFill>
                <a:latin typeface="Calibri"/>
                <a:ea typeface="Calibri"/>
                <a:cs typeface="Calibri"/>
                <a:sym typeface="Calibri"/>
              </a:rPr>
              <a:t>Ice-Marginal Lakes</a:t>
            </a:r>
            <a:endParaRPr b="0" i="0" sz="1150" u="none" cap="none" strike="noStrike">
              <a:solidFill>
                <a:schemeClr val="dk1"/>
              </a:solidFill>
              <a:latin typeface="Calibri"/>
              <a:ea typeface="Calibri"/>
              <a:cs typeface="Calibri"/>
              <a:sym typeface="Calibri"/>
            </a:endParaRPr>
          </a:p>
        </p:txBody>
      </p:sp>
      <p:sp>
        <p:nvSpPr>
          <p:cNvPr id="142" name="Google Shape;142;p4"/>
          <p:cNvSpPr/>
          <p:nvPr/>
        </p:nvSpPr>
        <p:spPr>
          <a:xfrm>
            <a:off x="4956048" y="3145536"/>
            <a:ext cx="3749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950"/>
              <a:buFont typeface="Calibri"/>
              <a:buNone/>
            </a:pPr>
            <a:r>
              <a:rPr b="0" i="0" lang="en-US" sz="950" u="none" cap="none" strike="noStrike">
                <a:solidFill>
                  <a:srgbClr val="546E7A"/>
                </a:solidFill>
                <a:latin typeface="Calibri"/>
                <a:ea typeface="Calibri"/>
                <a:cs typeface="Calibri"/>
                <a:sym typeface="Calibri"/>
              </a:rPr>
              <a:t>Along glacier edges; dammed by ice</a:t>
            </a:r>
            <a:endParaRPr b="0" i="0" sz="950" u="none" cap="none" strike="noStrike">
              <a:solidFill>
                <a:schemeClr val="dk1"/>
              </a:solidFill>
              <a:latin typeface="Calibri"/>
              <a:ea typeface="Calibri"/>
              <a:cs typeface="Calibri"/>
              <a:sym typeface="Calibri"/>
            </a:endParaRPr>
          </a:p>
        </p:txBody>
      </p:sp>
      <p:sp>
        <p:nvSpPr>
          <p:cNvPr id="143" name="Google Shape;143;p4"/>
          <p:cNvSpPr/>
          <p:nvPr/>
        </p:nvSpPr>
        <p:spPr>
          <a:xfrm>
            <a:off x="4754880" y="3584448"/>
            <a:ext cx="91440" cy="402336"/>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
          <p:cNvSpPr/>
          <p:nvPr/>
        </p:nvSpPr>
        <p:spPr>
          <a:xfrm>
            <a:off x="4956048" y="3602736"/>
            <a:ext cx="3749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150"/>
              <a:buFont typeface="Calibri"/>
              <a:buNone/>
            </a:pPr>
            <a:r>
              <a:rPr b="1" i="0" lang="en-US" sz="1150" u="none" cap="none" strike="noStrike">
                <a:solidFill>
                  <a:srgbClr val="1A2357"/>
                </a:solidFill>
                <a:latin typeface="Calibri"/>
                <a:ea typeface="Calibri"/>
                <a:cs typeface="Calibri"/>
                <a:sym typeface="Calibri"/>
              </a:rPr>
              <a:t>Unconnected Glacial Lakes</a:t>
            </a:r>
            <a:endParaRPr b="0" i="0" sz="1150" u="none" cap="none" strike="noStrike">
              <a:solidFill>
                <a:schemeClr val="dk1"/>
              </a:solidFill>
              <a:latin typeface="Calibri"/>
              <a:ea typeface="Calibri"/>
              <a:cs typeface="Calibri"/>
              <a:sym typeface="Calibri"/>
            </a:endParaRPr>
          </a:p>
        </p:txBody>
      </p:sp>
      <p:sp>
        <p:nvSpPr>
          <p:cNvPr id="145" name="Google Shape;145;p4"/>
          <p:cNvSpPr/>
          <p:nvPr/>
        </p:nvSpPr>
        <p:spPr>
          <a:xfrm>
            <a:off x="4956048" y="3803904"/>
            <a:ext cx="3749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950"/>
              <a:buFont typeface="Calibri"/>
              <a:buNone/>
            </a:pPr>
            <a:r>
              <a:rPr b="0" i="0" lang="en-US" sz="950" u="none" cap="none" strike="noStrike">
                <a:solidFill>
                  <a:srgbClr val="546E7A"/>
                </a:solidFill>
                <a:latin typeface="Calibri"/>
                <a:ea typeface="Calibri"/>
                <a:cs typeface="Calibri"/>
                <a:sym typeface="Calibri"/>
              </a:rPr>
              <a:t>Isolated from active glacier systems</a:t>
            </a:r>
            <a:endParaRPr b="0" i="0" sz="950" u="none" cap="none" strike="noStrike">
              <a:solidFill>
                <a:schemeClr val="dk1"/>
              </a:solidFill>
              <a:latin typeface="Calibri"/>
              <a:ea typeface="Calibri"/>
              <a:cs typeface="Calibri"/>
              <a:sym typeface="Calibri"/>
            </a:endParaRPr>
          </a:p>
        </p:txBody>
      </p:sp>
      <p:sp>
        <p:nvSpPr>
          <p:cNvPr id="146" name="Google Shape;146;p4"/>
          <p:cNvSpPr/>
          <p:nvPr/>
        </p:nvSpPr>
        <p:spPr>
          <a:xfrm>
            <a:off x="4663440" y="4261104"/>
            <a:ext cx="42062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900"/>
              <a:buFont typeface="Calibri"/>
              <a:buNone/>
            </a:pPr>
            <a:r>
              <a:rPr b="0" i="1" lang="en-US" sz="900" u="none" cap="none" strike="noStrike">
                <a:solidFill>
                  <a:srgbClr val="546E7A"/>
                </a:solidFill>
                <a:latin typeface="Calibri"/>
                <a:ea typeface="Calibri"/>
                <a:cs typeface="Calibri"/>
                <a:sym typeface="Calibri"/>
              </a:rPr>
              <a:t>Masks: Lake pixels = 255  |  Background = 0  |  Includes shapefiles &amp; metadata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5"/>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155" name="Google Shape;155;p5"/>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5"/>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160" name="Google Shape;160;p5"/>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5 / 22</a:t>
            </a:r>
            <a:endParaRPr b="0" i="0" sz="700" u="none" cap="none" strike="noStrike">
              <a:solidFill>
                <a:schemeClr val="dk1"/>
              </a:solidFill>
              <a:latin typeface="Calibri"/>
              <a:ea typeface="Calibri"/>
              <a:cs typeface="Calibri"/>
              <a:sym typeface="Calibri"/>
            </a:endParaRPr>
          </a:p>
        </p:txBody>
      </p:sp>
      <p:sp>
        <p:nvSpPr>
          <p:cNvPr id="161" name="Google Shape;161;p5"/>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Methodology &amp; Pipeline</a:t>
            </a:r>
            <a:endParaRPr b="0" i="0" sz="2200" u="none" cap="none" strike="noStrike">
              <a:solidFill>
                <a:schemeClr val="dk1"/>
              </a:solidFill>
              <a:latin typeface="Calibri"/>
              <a:ea typeface="Calibri"/>
              <a:cs typeface="Calibri"/>
              <a:sym typeface="Calibri"/>
            </a:endParaRPr>
          </a:p>
        </p:txBody>
      </p:sp>
      <p:sp>
        <p:nvSpPr>
          <p:cNvPr id="162" name="Google Shape;162;p5"/>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a:off x="228600" y="1737360"/>
            <a:ext cx="1463040" cy="1188720"/>
          </a:xfrm>
          <a:prstGeom prst="rect">
            <a:avLst/>
          </a:prstGeom>
          <a:solidFill>
            <a:srgbClr val="1A2357"/>
          </a:solidFill>
          <a:ln cap="flat" cmpd="sng" w="12700">
            <a:solidFill>
              <a:srgbClr val="1A2357"/>
            </a:solidFill>
            <a:prstDash val="solid"/>
            <a:round/>
            <a:headEnd len="sm" w="sm" type="none"/>
            <a:tailEnd len="sm" w="sm" type="none"/>
          </a:ln>
          <a:effectLst>
            <a:outerShdw blurRad="762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a:off x="228600" y="1737360"/>
            <a:ext cx="14630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Satellite</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Images</a:t>
            </a:r>
            <a:endParaRPr b="0" i="0" sz="1200" u="none" cap="none" strike="noStrike">
              <a:solidFill>
                <a:schemeClr val="dk1"/>
              </a:solidFill>
              <a:latin typeface="Calibri"/>
              <a:ea typeface="Calibri"/>
              <a:cs typeface="Calibri"/>
              <a:sym typeface="Calibri"/>
            </a:endParaRPr>
          </a:p>
        </p:txBody>
      </p:sp>
      <p:sp>
        <p:nvSpPr>
          <p:cNvPr id="165" name="Google Shape;165;p5"/>
          <p:cNvSpPr/>
          <p:nvPr/>
        </p:nvSpPr>
        <p:spPr>
          <a:xfrm>
            <a:off x="228600" y="2331720"/>
            <a:ext cx="1463040" cy="22860"/>
          </a:xfrm>
          <a:prstGeom prst="rect">
            <a:avLst/>
          </a:prstGeom>
          <a:solidFill>
            <a:srgbClr val="FFFFFF"/>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5"/>
          <p:cNvSpPr/>
          <p:nvPr/>
        </p:nvSpPr>
        <p:spPr>
          <a:xfrm>
            <a:off x="228600" y="2359152"/>
            <a:ext cx="1463040" cy="53035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GLID Dataset</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512×512 px</a:t>
            </a:r>
            <a:endParaRPr b="0" i="0" sz="850" u="none" cap="none" strike="noStrike">
              <a:solidFill>
                <a:schemeClr val="dk1"/>
              </a:solidFill>
              <a:latin typeface="Calibri"/>
              <a:ea typeface="Calibri"/>
              <a:cs typeface="Calibri"/>
              <a:sym typeface="Calibri"/>
            </a:endParaRPr>
          </a:p>
        </p:txBody>
      </p:sp>
      <p:sp>
        <p:nvSpPr>
          <p:cNvPr id="167" name="Google Shape;167;p5"/>
          <p:cNvSpPr/>
          <p:nvPr/>
        </p:nvSpPr>
        <p:spPr>
          <a:xfrm>
            <a:off x="1691640" y="2340864"/>
            <a:ext cx="228600" cy="7315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p:nvPr/>
        </p:nvSpPr>
        <p:spPr>
          <a:xfrm>
            <a:off x="1783080" y="2194560"/>
            <a:ext cx="182880" cy="3840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0" i="0" lang="en-US" sz="1100" u="none" cap="none" strike="noStrike">
                <a:solidFill>
                  <a:srgbClr val="00838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69" name="Google Shape;169;p5"/>
          <p:cNvSpPr/>
          <p:nvPr/>
        </p:nvSpPr>
        <p:spPr>
          <a:xfrm>
            <a:off x="1984248" y="1737360"/>
            <a:ext cx="1463040" cy="1188720"/>
          </a:xfrm>
          <a:prstGeom prst="rect">
            <a:avLst/>
          </a:prstGeom>
          <a:solidFill>
            <a:srgbClr val="283593"/>
          </a:solidFill>
          <a:ln cap="flat" cmpd="sng" w="12700">
            <a:solidFill>
              <a:srgbClr val="283593"/>
            </a:solidFill>
            <a:prstDash val="solid"/>
            <a:round/>
            <a:headEnd len="sm" w="sm" type="none"/>
            <a:tailEnd len="sm" w="sm" type="none"/>
          </a:ln>
          <a:effectLst>
            <a:outerShdw blurRad="762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1984248" y="1737360"/>
            <a:ext cx="14630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Pre-</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processing</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1984248" y="2331720"/>
            <a:ext cx="1463040" cy="22860"/>
          </a:xfrm>
          <a:prstGeom prst="rect">
            <a:avLst/>
          </a:prstGeom>
          <a:solidFill>
            <a:srgbClr val="FFFFFF"/>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a:off x="1984248" y="2359152"/>
            <a:ext cx="1463040" cy="53035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Resize 224×224</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Normalize</a:t>
            </a:r>
            <a:endParaRPr b="0" i="0" sz="850" u="none" cap="none" strike="noStrike">
              <a:solidFill>
                <a:schemeClr val="dk1"/>
              </a:solidFill>
              <a:latin typeface="Calibri"/>
              <a:ea typeface="Calibri"/>
              <a:cs typeface="Calibri"/>
              <a:sym typeface="Calibri"/>
            </a:endParaRPr>
          </a:p>
        </p:txBody>
      </p:sp>
      <p:sp>
        <p:nvSpPr>
          <p:cNvPr id="173" name="Google Shape;173;p5"/>
          <p:cNvSpPr/>
          <p:nvPr/>
        </p:nvSpPr>
        <p:spPr>
          <a:xfrm>
            <a:off x="3447288" y="2340864"/>
            <a:ext cx="228600" cy="7315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a:off x="3538728" y="2194560"/>
            <a:ext cx="182880" cy="3840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0" i="0" lang="en-US" sz="1100" u="none" cap="none" strike="noStrike">
                <a:solidFill>
                  <a:srgbClr val="00838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75" name="Google Shape;175;p5"/>
          <p:cNvSpPr/>
          <p:nvPr/>
        </p:nvSpPr>
        <p:spPr>
          <a:xfrm>
            <a:off x="3739896" y="1737360"/>
            <a:ext cx="1463040" cy="1188720"/>
          </a:xfrm>
          <a:prstGeom prst="rect">
            <a:avLst/>
          </a:prstGeom>
          <a:solidFill>
            <a:srgbClr val="00838F"/>
          </a:solidFill>
          <a:ln cap="flat" cmpd="sng" w="12700">
            <a:solidFill>
              <a:srgbClr val="00838F"/>
            </a:solidFill>
            <a:prstDash val="solid"/>
            <a:round/>
            <a:headEnd len="sm" w="sm" type="none"/>
            <a:tailEnd len="sm" w="sm" type="none"/>
          </a:ln>
          <a:effectLst>
            <a:outerShdw blurRad="762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3739896" y="1737360"/>
            <a:ext cx="14630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Model</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Training</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3739896" y="2331720"/>
            <a:ext cx="1463040" cy="22860"/>
          </a:xfrm>
          <a:prstGeom prst="rect">
            <a:avLst/>
          </a:prstGeom>
          <a:solidFill>
            <a:srgbClr val="FFFFFF"/>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a:off x="3739896" y="2359152"/>
            <a:ext cx="1463040" cy="53035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U-Net / DeepLabV3</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Swin Transformer</a:t>
            </a:r>
            <a:endParaRPr b="0" i="0" sz="850" u="none" cap="none" strike="noStrike">
              <a:solidFill>
                <a:schemeClr val="dk1"/>
              </a:solidFill>
              <a:latin typeface="Calibri"/>
              <a:ea typeface="Calibri"/>
              <a:cs typeface="Calibri"/>
              <a:sym typeface="Calibri"/>
            </a:endParaRPr>
          </a:p>
        </p:txBody>
      </p:sp>
      <p:sp>
        <p:nvSpPr>
          <p:cNvPr id="179" name="Google Shape;179;p5"/>
          <p:cNvSpPr/>
          <p:nvPr/>
        </p:nvSpPr>
        <p:spPr>
          <a:xfrm>
            <a:off x="5202936" y="2340864"/>
            <a:ext cx="228600" cy="7315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a:off x="5294376" y="2194560"/>
            <a:ext cx="182880" cy="3840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0" i="0" lang="en-US" sz="1100" u="none" cap="none" strike="noStrike">
                <a:solidFill>
                  <a:srgbClr val="00838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81" name="Google Shape;181;p5"/>
          <p:cNvSpPr/>
          <p:nvPr/>
        </p:nvSpPr>
        <p:spPr>
          <a:xfrm>
            <a:off x="5495544" y="1737360"/>
            <a:ext cx="1463040" cy="1188720"/>
          </a:xfrm>
          <a:prstGeom prst="rect">
            <a:avLst/>
          </a:prstGeom>
          <a:solidFill>
            <a:srgbClr val="00695C"/>
          </a:solidFill>
          <a:ln cap="flat" cmpd="sng" w="12700">
            <a:solidFill>
              <a:srgbClr val="00695C"/>
            </a:solidFill>
            <a:prstDash val="solid"/>
            <a:round/>
            <a:headEnd len="sm" w="sm" type="none"/>
            <a:tailEnd len="sm" w="sm" type="none"/>
          </a:ln>
          <a:effectLst>
            <a:outerShdw blurRad="762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5495544" y="1737360"/>
            <a:ext cx="14630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Segmentation</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Mask</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5495544" y="2331720"/>
            <a:ext cx="1463040" cy="22860"/>
          </a:xfrm>
          <a:prstGeom prst="rect">
            <a:avLst/>
          </a:prstGeom>
          <a:solidFill>
            <a:srgbClr val="FFFFFF"/>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5"/>
          <p:cNvSpPr/>
          <p:nvPr/>
        </p:nvSpPr>
        <p:spPr>
          <a:xfrm>
            <a:off x="5495544" y="2359152"/>
            <a:ext cx="1463040" cy="53035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Predicted lake</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pixel maps</a:t>
            </a:r>
            <a:endParaRPr b="0" i="0" sz="850" u="none" cap="none" strike="noStrike">
              <a:solidFill>
                <a:schemeClr val="dk1"/>
              </a:solidFill>
              <a:latin typeface="Calibri"/>
              <a:ea typeface="Calibri"/>
              <a:cs typeface="Calibri"/>
              <a:sym typeface="Calibri"/>
            </a:endParaRPr>
          </a:p>
        </p:txBody>
      </p:sp>
      <p:sp>
        <p:nvSpPr>
          <p:cNvPr id="185" name="Google Shape;185;p5"/>
          <p:cNvSpPr/>
          <p:nvPr/>
        </p:nvSpPr>
        <p:spPr>
          <a:xfrm>
            <a:off x="6958584" y="2340864"/>
            <a:ext cx="228600" cy="7315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7050024" y="2194560"/>
            <a:ext cx="182880" cy="3840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0" i="0" lang="en-US" sz="1100" u="none" cap="none" strike="noStrike">
                <a:solidFill>
                  <a:srgbClr val="00838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87" name="Google Shape;187;p5"/>
          <p:cNvSpPr/>
          <p:nvPr/>
        </p:nvSpPr>
        <p:spPr>
          <a:xfrm>
            <a:off x="7251192" y="1737360"/>
            <a:ext cx="1463040" cy="1188720"/>
          </a:xfrm>
          <a:prstGeom prst="rect">
            <a:avLst/>
          </a:prstGeom>
          <a:solidFill>
            <a:srgbClr val="1B5E20"/>
          </a:solidFill>
          <a:ln cap="flat" cmpd="sng" w="12700">
            <a:solidFill>
              <a:srgbClr val="1B5E20"/>
            </a:solidFill>
            <a:prstDash val="solid"/>
            <a:round/>
            <a:headEnd len="sm" w="sm" type="none"/>
            <a:tailEnd len="sm" w="sm" type="none"/>
          </a:ln>
          <a:effectLst>
            <a:outerShdw blurRad="762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7251192" y="1737360"/>
            <a:ext cx="14630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Evaluation</a:t>
            </a:r>
            <a:endParaRPr b="0" i="0" sz="1200" u="none" cap="none" strike="noStrike">
              <a:solidFill>
                <a:schemeClr val="dk1"/>
              </a:solidFill>
              <a:latin typeface="Calibri"/>
              <a:ea typeface="Calibri"/>
              <a:cs typeface="Calibri"/>
              <a:sym typeface="Calibri"/>
            </a:endParaRPr>
          </a:p>
        </p:txBody>
      </p:sp>
      <p:sp>
        <p:nvSpPr>
          <p:cNvPr id="189" name="Google Shape;189;p5"/>
          <p:cNvSpPr/>
          <p:nvPr/>
        </p:nvSpPr>
        <p:spPr>
          <a:xfrm>
            <a:off x="7251192" y="2331720"/>
            <a:ext cx="1463040" cy="22860"/>
          </a:xfrm>
          <a:prstGeom prst="rect">
            <a:avLst/>
          </a:prstGeom>
          <a:solidFill>
            <a:srgbClr val="FFFFFF"/>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5"/>
          <p:cNvSpPr/>
          <p:nvPr/>
        </p:nvSpPr>
        <p:spPr>
          <a:xfrm>
            <a:off x="7251192" y="2359152"/>
            <a:ext cx="1463040" cy="53035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IoU, Dice,</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Accuracy</a:t>
            </a:r>
            <a:endParaRPr b="0" i="0" sz="850" u="none" cap="none" strike="noStrike">
              <a:solidFill>
                <a:schemeClr val="dk1"/>
              </a:solidFill>
              <a:latin typeface="Calibri"/>
              <a:ea typeface="Calibri"/>
              <a:cs typeface="Calibri"/>
              <a:sym typeface="Calibri"/>
            </a:endParaRPr>
          </a:p>
        </p:txBody>
      </p:sp>
      <p:sp>
        <p:nvSpPr>
          <p:cNvPr id="191" name="Google Shape;191;p5"/>
          <p:cNvSpPr/>
          <p:nvPr/>
        </p:nvSpPr>
        <p:spPr>
          <a:xfrm>
            <a:off x="274320" y="3154680"/>
            <a:ext cx="8595360" cy="32004"/>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274320" y="3218688"/>
            <a:ext cx="85953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Data Preprocessing Details</a:t>
            </a:r>
            <a:endParaRPr b="0" i="0" sz="1200" u="none" cap="none" strike="noStrike">
              <a:solidFill>
                <a:schemeClr val="dk1"/>
              </a:solidFill>
              <a:latin typeface="Calibri"/>
              <a:ea typeface="Calibri"/>
              <a:cs typeface="Calibri"/>
              <a:sym typeface="Calibri"/>
            </a:endParaRPr>
          </a:p>
        </p:txBody>
      </p:sp>
      <p:sp>
        <p:nvSpPr>
          <p:cNvPr id="193" name="Google Shape;193;p5"/>
          <p:cNvSpPr/>
          <p:nvPr/>
        </p:nvSpPr>
        <p:spPr>
          <a:xfrm>
            <a:off x="457200" y="3493008"/>
            <a:ext cx="8321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Images resized from 512×512 to 224×224 pixels to reduce computational load</a:t>
            </a:r>
            <a:endParaRPr b="0" i="0" sz="1050" u="none" cap="none" strike="noStrike">
              <a:solidFill>
                <a:schemeClr val="dk1"/>
              </a:solidFill>
              <a:latin typeface="Calibri"/>
              <a:ea typeface="Calibri"/>
              <a:cs typeface="Calibri"/>
              <a:sym typeface="Calibri"/>
            </a:endParaRPr>
          </a:p>
        </p:txBody>
      </p:sp>
      <p:sp>
        <p:nvSpPr>
          <p:cNvPr id="194" name="Google Shape;194;p5"/>
          <p:cNvSpPr/>
          <p:nvPr/>
        </p:nvSpPr>
        <p:spPr>
          <a:xfrm>
            <a:off x="457200" y="3767328"/>
            <a:ext cx="8321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Pixel values normalized to a consistent range for stable convergence</a:t>
            </a:r>
            <a:endParaRPr b="0" i="0" sz="1050" u="none" cap="none" strike="noStrike">
              <a:solidFill>
                <a:schemeClr val="dk1"/>
              </a:solidFill>
              <a:latin typeface="Calibri"/>
              <a:ea typeface="Calibri"/>
              <a:cs typeface="Calibri"/>
              <a:sym typeface="Calibri"/>
            </a:endParaRPr>
          </a:p>
        </p:txBody>
      </p:sp>
      <p:sp>
        <p:nvSpPr>
          <p:cNvPr id="195" name="Google Shape;195;p5"/>
          <p:cNvSpPr/>
          <p:nvPr/>
        </p:nvSpPr>
        <p:spPr>
          <a:xfrm>
            <a:off x="457200" y="4041648"/>
            <a:ext cx="8321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Dataset split: 80% training, 10% validation, 10% testing</a:t>
            </a:r>
            <a:endParaRPr b="0" i="0" sz="1050" u="none" cap="none" strike="noStrike">
              <a:solidFill>
                <a:schemeClr val="dk1"/>
              </a:solidFill>
              <a:latin typeface="Calibri"/>
              <a:ea typeface="Calibri"/>
              <a:cs typeface="Calibri"/>
              <a:sym typeface="Calibri"/>
            </a:endParaRPr>
          </a:p>
        </p:txBody>
      </p:sp>
      <p:sp>
        <p:nvSpPr>
          <p:cNvPr id="196" name="Google Shape;196;p5"/>
          <p:cNvSpPr/>
          <p:nvPr/>
        </p:nvSpPr>
        <p:spPr>
          <a:xfrm>
            <a:off x="457200" y="4315968"/>
            <a:ext cx="8321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Batch size: 8  |  Epochs: 50  |  Loss: Binary Cross-Entropy + Dice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6"/>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205" name="Google Shape;205;p6"/>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210" name="Google Shape;210;p6"/>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6 / 22</a:t>
            </a:r>
            <a:endParaRPr b="0" i="0" sz="700" u="none" cap="none" strike="noStrike">
              <a:solidFill>
                <a:schemeClr val="dk1"/>
              </a:solidFill>
              <a:latin typeface="Calibri"/>
              <a:ea typeface="Calibri"/>
              <a:cs typeface="Calibri"/>
              <a:sym typeface="Calibri"/>
            </a:endParaRPr>
          </a:p>
        </p:txBody>
      </p:sp>
      <p:sp>
        <p:nvSpPr>
          <p:cNvPr id="211" name="Google Shape;211;p6"/>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Model Architectures</a:t>
            </a:r>
            <a:endParaRPr b="0" i="0" sz="2200" u="none" cap="none" strike="noStrike">
              <a:solidFill>
                <a:schemeClr val="dk1"/>
              </a:solidFill>
              <a:latin typeface="Calibri"/>
              <a:ea typeface="Calibri"/>
              <a:cs typeface="Calibri"/>
              <a:sym typeface="Calibri"/>
            </a:endParaRPr>
          </a:p>
        </p:txBody>
      </p:sp>
      <p:sp>
        <p:nvSpPr>
          <p:cNvPr id="212" name="Google Shape;212;p6"/>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228600" y="1143000"/>
            <a:ext cx="2788920" cy="3657600"/>
          </a:xfrm>
          <a:prstGeom prst="rect">
            <a:avLst/>
          </a:prstGeom>
          <a:solidFill>
            <a:srgbClr val="F4F6FB"/>
          </a:solidFill>
          <a:ln cap="flat" cmpd="sng" w="15225">
            <a:solidFill>
              <a:srgbClr val="1A2357"/>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
          <p:cNvSpPr/>
          <p:nvPr/>
        </p:nvSpPr>
        <p:spPr>
          <a:xfrm>
            <a:off x="228600" y="1143000"/>
            <a:ext cx="2788920" cy="64008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228600" y="1143000"/>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U-Net</a:t>
            </a:r>
            <a:endParaRPr b="0" i="0" sz="1600" u="none" cap="none" strike="noStrike">
              <a:solidFill>
                <a:schemeClr val="dk1"/>
              </a:solidFill>
              <a:latin typeface="Calibri"/>
              <a:ea typeface="Calibri"/>
              <a:cs typeface="Calibri"/>
              <a:sym typeface="Calibri"/>
            </a:endParaRPr>
          </a:p>
        </p:txBody>
      </p:sp>
      <p:sp>
        <p:nvSpPr>
          <p:cNvPr id="216" name="Google Shape;216;p6"/>
          <p:cNvSpPr/>
          <p:nvPr/>
        </p:nvSpPr>
        <p:spPr>
          <a:xfrm>
            <a:off x="228600" y="1527048"/>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CNN — Encoder-Decoder</a:t>
            </a:r>
            <a:endParaRPr b="0" i="0" sz="900" u="none" cap="none" strike="noStrike">
              <a:solidFill>
                <a:schemeClr val="dk1"/>
              </a:solidFill>
              <a:latin typeface="Calibri"/>
              <a:ea typeface="Calibri"/>
              <a:cs typeface="Calibri"/>
              <a:sym typeface="Calibri"/>
            </a:endParaRPr>
          </a:p>
        </p:txBody>
      </p:sp>
      <p:sp>
        <p:nvSpPr>
          <p:cNvPr id="217" name="Google Shape;217;p6"/>
          <p:cNvSpPr/>
          <p:nvPr/>
        </p:nvSpPr>
        <p:spPr>
          <a:xfrm>
            <a:off x="320040" y="1828800"/>
            <a:ext cx="26060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00"/>
              <a:buFont typeface="Calibri"/>
              <a:buNone/>
            </a:pPr>
            <a:r>
              <a:rPr b="1" i="0" lang="en-US" sz="1000" u="none" cap="none" strike="noStrike">
                <a:solidFill>
                  <a:srgbClr val="1A2357"/>
                </a:solidFill>
                <a:latin typeface="Calibri"/>
                <a:ea typeface="Calibri"/>
                <a:cs typeface="Calibri"/>
                <a:sym typeface="Calibri"/>
              </a:rPr>
              <a:t>Key Components</a:t>
            </a:r>
            <a:endParaRPr b="0" i="0" sz="1000" u="none" cap="none" strike="noStrike">
              <a:solidFill>
                <a:schemeClr val="dk1"/>
              </a:solidFill>
              <a:latin typeface="Calibri"/>
              <a:ea typeface="Calibri"/>
              <a:cs typeface="Calibri"/>
              <a:sym typeface="Calibri"/>
            </a:endParaRPr>
          </a:p>
        </p:txBody>
      </p:sp>
      <p:sp>
        <p:nvSpPr>
          <p:cNvPr id="218" name="Google Shape;218;p6"/>
          <p:cNvSpPr/>
          <p:nvPr/>
        </p:nvSpPr>
        <p:spPr>
          <a:xfrm>
            <a:off x="320040" y="2075688"/>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Symmetric encoder–decoder structure</a:t>
            </a:r>
            <a:endParaRPr b="0" i="0" sz="950" u="none" cap="none" strike="noStrike">
              <a:solidFill>
                <a:schemeClr val="dk1"/>
              </a:solidFill>
              <a:latin typeface="Calibri"/>
              <a:ea typeface="Calibri"/>
              <a:cs typeface="Calibri"/>
              <a:sym typeface="Calibri"/>
            </a:endParaRPr>
          </a:p>
        </p:txBody>
      </p:sp>
      <p:sp>
        <p:nvSpPr>
          <p:cNvPr id="219" name="Google Shape;219;p6"/>
          <p:cNvSpPr/>
          <p:nvPr/>
        </p:nvSpPr>
        <p:spPr>
          <a:xfrm>
            <a:off x="320040" y="2423160"/>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Skip connections preserve spatial info</a:t>
            </a:r>
            <a:endParaRPr b="0" i="0" sz="950" u="none" cap="none" strike="noStrike">
              <a:solidFill>
                <a:schemeClr val="dk1"/>
              </a:solidFill>
              <a:latin typeface="Calibri"/>
              <a:ea typeface="Calibri"/>
              <a:cs typeface="Calibri"/>
              <a:sym typeface="Calibri"/>
            </a:endParaRPr>
          </a:p>
        </p:txBody>
      </p:sp>
      <p:sp>
        <p:nvSpPr>
          <p:cNvPr id="220" name="Google Shape;220;p6"/>
          <p:cNvSpPr/>
          <p:nvPr/>
        </p:nvSpPr>
        <p:spPr>
          <a:xfrm>
            <a:off x="320040" y="2770632"/>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Transposed convolutions for upsampling</a:t>
            </a:r>
            <a:endParaRPr b="0" i="0" sz="950" u="none" cap="none" strike="noStrike">
              <a:solidFill>
                <a:schemeClr val="dk1"/>
              </a:solidFill>
              <a:latin typeface="Calibri"/>
              <a:ea typeface="Calibri"/>
              <a:cs typeface="Calibri"/>
              <a:sym typeface="Calibri"/>
            </a:endParaRPr>
          </a:p>
        </p:txBody>
      </p:sp>
      <p:sp>
        <p:nvSpPr>
          <p:cNvPr id="221" name="Google Shape;221;p6"/>
          <p:cNvSpPr/>
          <p:nvPr/>
        </p:nvSpPr>
        <p:spPr>
          <a:xfrm>
            <a:off x="320040" y="3118104"/>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Max-pooling for feature extraction</a:t>
            </a:r>
            <a:endParaRPr b="0" i="0" sz="950" u="none" cap="none" strike="noStrike">
              <a:solidFill>
                <a:schemeClr val="dk1"/>
              </a:solidFill>
              <a:latin typeface="Calibri"/>
              <a:ea typeface="Calibri"/>
              <a:cs typeface="Calibri"/>
              <a:sym typeface="Calibri"/>
            </a:endParaRPr>
          </a:p>
        </p:txBody>
      </p:sp>
      <p:sp>
        <p:nvSpPr>
          <p:cNvPr id="222" name="Google Shape;222;p6"/>
          <p:cNvSpPr/>
          <p:nvPr/>
        </p:nvSpPr>
        <p:spPr>
          <a:xfrm>
            <a:off x="301752" y="4407408"/>
            <a:ext cx="2651760" cy="201168"/>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
          <p:cNvSpPr/>
          <p:nvPr/>
        </p:nvSpPr>
        <p:spPr>
          <a:xfrm>
            <a:off x="320040" y="4407408"/>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850"/>
              <a:buFont typeface="Calibri"/>
              <a:buNone/>
            </a:pPr>
            <a:r>
              <a:rPr b="0" i="0" lang="en-US" sz="850" u="none" cap="none" strike="noStrike">
                <a:solidFill>
                  <a:srgbClr val="2E7D32"/>
                </a:solidFill>
                <a:latin typeface="Calibri"/>
                <a:ea typeface="Calibri"/>
                <a:cs typeface="Calibri"/>
                <a:sym typeface="Calibri"/>
              </a:rPr>
              <a:t>✔ Fine detail &amp; boundary detection</a:t>
            </a:r>
            <a:endParaRPr b="0" i="0" sz="850" u="none" cap="none" strike="noStrike">
              <a:solidFill>
                <a:schemeClr val="dk1"/>
              </a:solidFill>
              <a:latin typeface="Calibri"/>
              <a:ea typeface="Calibri"/>
              <a:cs typeface="Calibri"/>
              <a:sym typeface="Calibri"/>
            </a:endParaRPr>
          </a:p>
        </p:txBody>
      </p:sp>
      <p:sp>
        <p:nvSpPr>
          <p:cNvPr id="224" name="Google Shape;224;p6"/>
          <p:cNvSpPr/>
          <p:nvPr/>
        </p:nvSpPr>
        <p:spPr>
          <a:xfrm>
            <a:off x="301752" y="4626864"/>
            <a:ext cx="2651760" cy="201168"/>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6"/>
          <p:cNvSpPr/>
          <p:nvPr/>
        </p:nvSpPr>
        <p:spPr>
          <a:xfrm>
            <a:off x="320040" y="4626864"/>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850"/>
              <a:buFont typeface="Calibri"/>
              <a:buNone/>
            </a:pPr>
            <a:r>
              <a:rPr b="0" i="0" lang="en-US" sz="850" u="none" cap="none" strike="noStrike">
                <a:solidFill>
                  <a:srgbClr val="C62828"/>
                </a:solidFill>
                <a:latin typeface="Calibri"/>
                <a:ea typeface="Calibri"/>
                <a:cs typeface="Calibri"/>
                <a:sym typeface="Calibri"/>
              </a:rPr>
              <a:t>✘ Limited global context</a:t>
            </a:r>
            <a:endParaRPr b="0" i="0" sz="850" u="none" cap="none" strike="noStrike">
              <a:solidFill>
                <a:schemeClr val="dk1"/>
              </a:solidFill>
              <a:latin typeface="Calibri"/>
              <a:ea typeface="Calibri"/>
              <a:cs typeface="Calibri"/>
              <a:sym typeface="Calibri"/>
            </a:endParaRPr>
          </a:p>
        </p:txBody>
      </p:sp>
      <p:sp>
        <p:nvSpPr>
          <p:cNvPr id="226" name="Google Shape;226;p6"/>
          <p:cNvSpPr/>
          <p:nvPr/>
        </p:nvSpPr>
        <p:spPr>
          <a:xfrm>
            <a:off x="3200400" y="1143000"/>
            <a:ext cx="2788920" cy="3657600"/>
          </a:xfrm>
          <a:prstGeom prst="rect">
            <a:avLst/>
          </a:prstGeom>
          <a:solidFill>
            <a:srgbClr val="F4F6FB"/>
          </a:solidFill>
          <a:ln cap="flat" cmpd="sng" w="15225">
            <a:solidFill>
              <a:srgbClr val="00838F"/>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6"/>
          <p:cNvSpPr/>
          <p:nvPr/>
        </p:nvSpPr>
        <p:spPr>
          <a:xfrm>
            <a:off x="3200400" y="1143000"/>
            <a:ext cx="2788920" cy="64008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6"/>
          <p:cNvSpPr/>
          <p:nvPr/>
        </p:nvSpPr>
        <p:spPr>
          <a:xfrm>
            <a:off x="3200400" y="1143000"/>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DeepLab V3+</a:t>
            </a:r>
            <a:endParaRPr b="0" i="0" sz="1600" u="none" cap="none" strike="noStrike">
              <a:solidFill>
                <a:schemeClr val="dk1"/>
              </a:solidFill>
              <a:latin typeface="Calibri"/>
              <a:ea typeface="Calibri"/>
              <a:cs typeface="Calibri"/>
              <a:sym typeface="Calibri"/>
            </a:endParaRPr>
          </a:p>
        </p:txBody>
      </p:sp>
      <p:sp>
        <p:nvSpPr>
          <p:cNvPr id="229" name="Google Shape;229;p6"/>
          <p:cNvSpPr/>
          <p:nvPr/>
        </p:nvSpPr>
        <p:spPr>
          <a:xfrm>
            <a:off x="3200400" y="1527048"/>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CNN + Atrous Convolutions</a:t>
            </a:r>
            <a:endParaRPr b="0" i="0" sz="900" u="none" cap="none" strike="noStrike">
              <a:solidFill>
                <a:schemeClr val="dk1"/>
              </a:solidFill>
              <a:latin typeface="Calibri"/>
              <a:ea typeface="Calibri"/>
              <a:cs typeface="Calibri"/>
              <a:sym typeface="Calibri"/>
            </a:endParaRPr>
          </a:p>
        </p:txBody>
      </p:sp>
      <p:sp>
        <p:nvSpPr>
          <p:cNvPr id="230" name="Google Shape;230;p6"/>
          <p:cNvSpPr/>
          <p:nvPr/>
        </p:nvSpPr>
        <p:spPr>
          <a:xfrm>
            <a:off x="3291840" y="1828800"/>
            <a:ext cx="26060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000"/>
              <a:buFont typeface="Calibri"/>
              <a:buNone/>
            </a:pPr>
            <a:r>
              <a:rPr b="1" i="0" lang="en-US" sz="1000" u="none" cap="none" strike="noStrike">
                <a:solidFill>
                  <a:srgbClr val="00838F"/>
                </a:solidFill>
                <a:latin typeface="Calibri"/>
                <a:ea typeface="Calibri"/>
                <a:cs typeface="Calibri"/>
                <a:sym typeface="Calibri"/>
              </a:rPr>
              <a:t>Key Components</a:t>
            </a:r>
            <a:endParaRPr b="0" i="0" sz="1000" u="none" cap="none" strike="noStrike">
              <a:solidFill>
                <a:schemeClr val="dk1"/>
              </a:solidFill>
              <a:latin typeface="Calibri"/>
              <a:ea typeface="Calibri"/>
              <a:cs typeface="Calibri"/>
              <a:sym typeface="Calibri"/>
            </a:endParaRPr>
          </a:p>
        </p:txBody>
      </p:sp>
      <p:sp>
        <p:nvSpPr>
          <p:cNvPr id="231" name="Google Shape;231;p6"/>
          <p:cNvSpPr/>
          <p:nvPr/>
        </p:nvSpPr>
        <p:spPr>
          <a:xfrm>
            <a:off x="3291840" y="2075688"/>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ResNet backbone for feature maps</a:t>
            </a:r>
            <a:endParaRPr b="0" i="0" sz="950" u="none" cap="none" strike="noStrike">
              <a:solidFill>
                <a:schemeClr val="dk1"/>
              </a:solidFill>
              <a:latin typeface="Calibri"/>
              <a:ea typeface="Calibri"/>
              <a:cs typeface="Calibri"/>
              <a:sym typeface="Calibri"/>
            </a:endParaRPr>
          </a:p>
        </p:txBody>
      </p:sp>
      <p:sp>
        <p:nvSpPr>
          <p:cNvPr id="232" name="Google Shape;232;p6"/>
          <p:cNvSpPr/>
          <p:nvPr/>
        </p:nvSpPr>
        <p:spPr>
          <a:xfrm>
            <a:off x="3291840" y="2423160"/>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Atrous (dilated) convolutions</a:t>
            </a:r>
            <a:endParaRPr b="0" i="0" sz="950" u="none" cap="none" strike="noStrike">
              <a:solidFill>
                <a:schemeClr val="dk1"/>
              </a:solidFill>
              <a:latin typeface="Calibri"/>
              <a:ea typeface="Calibri"/>
              <a:cs typeface="Calibri"/>
              <a:sym typeface="Calibri"/>
            </a:endParaRPr>
          </a:p>
        </p:txBody>
      </p:sp>
      <p:sp>
        <p:nvSpPr>
          <p:cNvPr id="233" name="Google Shape;233;p6"/>
          <p:cNvSpPr/>
          <p:nvPr/>
        </p:nvSpPr>
        <p:spPr>
          <a:xfrm>
            <a:off x="3291840" y="2770632"/>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ASPP: multi-scale feature extraction</a:t>
            </a:r>
            <a:endParaRPr b="0" i="0" sz="950" u="none" cap="none" strike="noStrike">
              <a:solidFill>
                <a:schemeClr val="dk1"/>
              </a:solidFill>
              <a:latin typeface="Calibri"/>
              <a:ea typeface="Calibri"/>
              <a:cs typeface="Calibri"/>
              <a:sym typeface="Calibri"/>
            </a:endParaRPr>
          </a:p>
        </p:txBody>
      </p:sp>
      <p:sp>
        <p:nvSpPr>
          <p:cNvPr id="234" name="Google Shape;234;p6"/>
          <p:cNvSpPr/>
          <p:nvPr/>
        </p:nvSpPr>
        <p:spPr>
          <a:xfrm>
            <a:off x="3291840" y="3118104"/>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Expanded receptive field without resolution loss</a:t>
            </a:r>
            <a:endParaRPr b="0" i="0" sz="950" u="none" cap="none" strike="noStrike">
              <a:solidFill>
                <a:schemeClr val="dk1"/>
              </a:solidFill>
              <a:latin typeface="Calibri"/>
              <a:ea typeface="Calibri"/>
              <a:cs typeface="Calibri"/>
              <a:sym typeface="Calibri"/>
            </a:endParaRPr>
          </a:p>
        </p:txBody>
      </p:sp>
      <p:sp>
        <p:nvSpPr>
          <p:cNvPr id="235" name="Google Shape;235;p6"/>
          <p:cNvSpPr/>
          <p:nvPr/>
        </p:nvSpPr>
        <p:spPr>
          <a:xfrm>
            <a:off x="3273552" y="4407408"/>
            <a:ext cx="2651760" cy="201168"/>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6"/>
          <p:cNvSpPr/>
          <p:nvPr/>
        </p:nvSpPr>
        <p:spPr>
          <a:xfrm>
            <a:off x="3291840" y="4407408"/>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850"/>
              <a:buFont typeface="Calibri"/>
              <a:buNone/>
            </a:pPr>
            <a:r>
              <a:rPr b="0" i="0" lang="en-US" sz="850" u="none" cap="none" strike="noStrike">
                <a:solidFill>
                  <a:srgbClr val="2E7D32"/>
                </a:solidFill>
                <a:latin typeface="Calibri"/>
                <a:ea typeface="Calibri"/>
                <a:cs typeface="Calibri"/>
                <a:sym typeface="Calibri"/>
              </a:rPr>
              <a:t>✔ Best multi-scale representation</a:t>
            </a:r>
            <a:endParaRPr b="0" i="0" sz="850" u="none" cap="none" strike="noStrike">
              <a:solidFill>
                <a:schemeClr val="dk1"/>
              </a:solidFill>
              <a:latin typeface="Calibri"/>
              <a:ea typeface="Calibri"/>
              <a:cs typeface="Calibri"/>
              <a:sym typeface="Calibri"/>
            </a:endParaRPr>
          </a:p>
        </p:txBody>
      </p:sp>
      <p:sp>
        <p:nvSpPr>
          <p:cNvPr id="237" name="Google Shape;237;p6"/>
          <p:cNvSpPr/>
          <p:nvPr/>
        </p:nvSpPr>
        <p:spPr>
          <a:xfrm>
            <a:off x="3273552" y="4626864"/>
            <a:ext cx="2651760" cy="201168"/>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6"/>
          <p:cNvSpPr/>
          <p:nvPr/>
        </p:nvSpPr>
        <p:spPr>
          <a:xfrm>
            <a:off x="3291840" y="4626864"/>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850"/>
              <a:buFont typeface="Calibri"/>
              <a:buNone/>
            </a:pPr>
            <a:r>
              <a:rPr b="0" i="0" lang="en-US" sz="850" u="none" cap="none" strike="noStrike">
                <a:solidFill>
                  <a:srgbClr val="C62828"/>
                </a:solidFill>
                <a:latin typeface="Calibri"/>
                <a:ea typeface="Calibri"/>
                <a:cs typeface="Calibri"/>
                <a:sym typeface="Calibri"/>
              </a:rPr>
              <a:t>✘ Higher computational cost</a:t>
            </a:r>
            <a:endParaRPr b="0" i="0" sz="850" u="none" cap="none" strike="noStrike">
              <a:solidFill>
                <a:schemeClr val="dk1"/>
              </a:solidFill>
              <a:latin typeface="Calibri"/>
              <a:ea typeface="Calibri"/>
              <a:cs typeface="Calibri"/>
              <a:sym typeface="Calibri"/>
            </a:endParaRPr>
          </a:p>
        </p:txBody>
      </p:sp>
      <p:sp>
        <p:nvSpPr>
          <p:cNvPr id="239" name="Google Shape;239;p6"/>
          <p:cNvSpPr/>
          <p:nvPr/>
        </p:nvSpPr>
        <p:spPr>
          <a:xfrm>
            <a:off x="6172200" y="1143000"/>
            <a:ext cx="2788920" cy="3657600"/>
          </a:xfrm>
          <a:prstGeom prst="rect">
            <a:avLst/>
          </a:prstGeom>
          <a:solidFill>
            <a:srgbClr val="F4F6FB"/>
          </a:solidFill>
          <a:ln cap="flat" cmpd="sng" w="15225">
            <a:solidFill>
              <a:srgbClr val="5E35B1"/>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6"/>
          <p:cNvSpPr/>
          <p:nvPr/>
        </p:nvSpPr>
        <p:spPr>
          <a:xfrm>
            <a:off x="6172200" y="1143000"/>
            <a:ext cx="2788920" cy="640080"/>
          </a:xfrm>
          <a:prstGeom prst="rect">
            <a:avLst/>
          </a:prstGeom>
          <a:solidFill>
            <a:srgbClr val="5E35B1"/>
          </a:solidFill>
          <a:ln cap="flat" cmpd="sng" w="12700">
            <a:solidFill>
              <a:srgbClr val="5E35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6"/>
          <p:cNvSpPr/>
          <p:nvPr/>
        </p:nvSpPr>
        <p:spPr>
          <a:xfrm>
            <a:off x="6172200" y="1143000"/>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Swin Transformer</a:t>
            </a:r>
            <a:endParaRPr b="0" i="0" sz="1600" u="none" cap="none" strike="noStrike">
              <a:solidFill>
                <a:schemeClr val="dk1"/>
              </a:solidFill>
              <a:latin typeface="Calibri"/>
              <a:ea typeface="Calibri"/>
              <a:cs typeface="Calibri"/>
              <a:sym typeface="Calibri"/>
            </a:endParaRPr>
          </a:p>
        </p:txBody>
      </p:sp>
      <p:sp>
        <p:nvSpPr>
          <p:cNvPr id="242" name="Google Shape;242;p6"/>
          <p:cNvSpPr/>
          <p:nvPr/>
        </p:nvSpPr>
        <p:spPr>
          <a:xfrm>
            <a:off x="6172200" y="1527048"/>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Vision Transformer</a:t>
            </a:r>
            <a:endParaRPr b="0" i="0" sz="900" u="none" cap="none" strike="noStrike">
              <a:solidFill>
                <a:schemeClr val="dk1"/>
              </a:solidFill>
              <a:latin typeface="Calibri"/>
              <a:ea typeface="Calibri"/>
              <a:cs typeface="Calibri"/>
              <a:sym typeface="Calibri"/>
            </a:endParaRPr>
          </a:p>
        </p:txBody>
      </p:sp>
      <p:sp>
        <p:nvSpPr>
          <p:cNvPr id="243" name="Google Shape;243;p6"/>
          <p:cNvSpPr/>
          <p:nvPr/>
        </p:nvSpPr>
        <p:spPr>
          <a:xfrm>
            <a:off x="6263640" y="1828800"/>
            <a:ext cx="26060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E35B1"/>
              </a:buClr>
              <a:buSzPts val="1000"/>
              <a:buFont typeface="Calibri"/>
              <a:buNone/>
            </a:pPr>
            <a:r>
              <a:rPr b="1" i="0" lang="en-US" sz="1000" u="none" cap="none" strike="noStrike">
                <a:solidFill>
                  <a:srgbClr val="5E35B1"/>
                </a:solidFill>
                <a:latin typeface="Calibri"/>
                <a:ea typeface="Calibri"/>
                <a:cs typeface="Calibri"/>
                <a:sym typeface="Calibri"/>
              </a:rPr>
              <a:t>Key Components</a:t>
            </a:r>
            <a:endParaRPr b="0" i="0" sz="1000" u="none" cap="none" strike="noStrike">
              <a:solidFill>
                <a:schemeClr val="dk1"/>
              </a:solidFill>
              <a:latin typeface="Calibri"/>
              <a:ea typeface="Calibri"/>
              <a:cs typeface="Calibri"/>
              <a:sym typeface="Calibri"/>
            </a:endParaRPr>
          </a:p>
        </p:txBody>
      </p:sp>
      <p:sp>
        <p:nvSpPr>
          <p:cNvPr id="244" name="Google Shape;244;p6"/>
          <p:cNvSpPr/>
          <p:nvPr/>
        </p:nvSpPr>
        <p:spPr>
          <a:xfrm>
            <a:off x="6263640" y="2075688"/>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Input image split into patches/tokens</a:t>
            </a:r>
            <a:endParaRPr b="0" i="0" sz="950" u="none" cap="none" strike="noStrike">
              <a:solidFill>
                <a:schemeClr val="dk1"/>
              </a:solidFill>
              <a:latin typeface="Calibri"/>
              <a:ea typeface="Calibri"/>
              <a:cs typeface="Calibri"/>
              <a:sym typeface="Calibri"/>
            </a:endParaRPr>
          </a:p>
        </p:txBody>
      </p:sp>
      <p:sp>
        <p:nvSpPr>
          <p:cNvPr id="245" name="Google Shape;245;p6"/>
          <p:cNvSpPr/>
          <p:nvPr/>
        </p:nvSpPr>
        <p:spPr>
          <a:xfrm>
            <a:off x="6263640" y="2423160"/>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Hierarchical multi-scale structure</a:t>
            </a:r>
            <a:endParaRPr b="0" i="0" sz="950" u="none" cap="none" strike="noStrike">
              <a:solidFill>
                <a:schemeClr val="dk1"/>
              </a:solidFill>
              <a:latin typeface="Calibri"/>
              <a:ea typeface="Calibri"/>
              <a:cs typeface="Calibri"/>
              <a:sym typeface="Calibri"/>
            </a:endParaRPr>
          </a:p>
        </p:txBody>
      </p:sp>
      <p:sp>
        <p:nvSpPr>
          <p:cNvPr id="246" name="Google Shape;246;p6"/>
          <p:cNvSpPr/>
          <p:nvPr/>
        </p:nvSpPr>
        <p:spPr>
          <a:xfrm>
            <a:off x="6263640" y="2770632"/>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Shifted Window Self-Attention (SWSA)</a:t>
            </a:r>
            <a:endParaRPr b="0" i="0" sz="950" u="none" cap="none" strike="noStrike">
              <a:solidFill>
                <a:schemeClr val="dk1"/>
              </a:solidFill>
              <a:latin typeface="Calibri"/>
              <a:ea typeface="Calibri"/>
              <a:cs typeface="Calibri"/>
              <a:sym typeface="Calibri"/>
            </a:endParaRPr>
          </a:p>
        </p:txBody>
      </p:sp>
      <p:sp>
        <p:nvSpPr>
          <p:cNvPr id="247" name="Google Shape;247;p6"/>
          <p:cNvSpPr/>
          <p:nvPr/>
        </p:nvSpPr>
        <p:spPr>
          <a:xfrm>
            <a:off x="6263640" y="3118104"/>
            <a:ext cx="2606040" cy="329184"/>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50"/>
              <a:buFont typeface="Calibri"/>
              <a:buChar char="•"/>
            </a:pPr>
            <a:r>
              <a:rPr b="0" i="0" lang="en-US" sz="950" u="none" cap="none" strike="noStrike">
                <a:solidFill>
                  <a:srgbClr val="212121"/>
                </a:solidFill>
                <a:latin typeface="Calibri"/>
                <a:ea typeface="Calibri"/>
                <a:cs typeface="Calibri"/>
                <a:sym typeface="Calibri"/>
              </a:rPr>
              <a:t>Long-range dependency modelling</a:t>
            </a:r>
            <a:endParaRPr b="0" i="0" sz="950" u="none" cap="none" strike="noStrike">
              <a:solidFill>
                <a:schemeClr val="dk1"/>
              </a:solidFill>
              <a:latin typeface="Calibri"/>
              <a:ea typeface="Calibri"/>
              <a:cs typeface="Calibri"/>
              <a:sym typeface="Calibri"/>
            </a:endParaRPr>
          </a:p>
        </p:txBody>
      </p:sp>
      <p:sp>
        <p:nvSpPr>
          <p:cNvPr id="248" name="Google Shape;248;p6"/>
          <p:cNvSpPr/>
          <p:nvPr/>
        </p:nvSpPr>
        <p:spPr>
          <a:xfrm>
            <a:off x="6245352" y="4407408"/>
            <a:ext cx="2651760" cy="201168"/>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6"/>
          <p:cNvSpPr/>
          <p:nvPr/>
        </p:nvSpPr>
        <p:spPr>
          <a:xfrm>
            <a:off x="6263640" y="4407408"/>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850"/>
              <a:buFont typeface="Calibri"/>
              <a:buNone/>
            </a:pPr>
            <a:r>
              <a:rPr b="0" i="0" lang="en-US" sz="850" u="none" cap="none" strike="noStrike">
                <a:solidFill>
                  <a:srgbClr val="2E7D32"/>
                </a:solidFill>
                <a:latin typeface="Calibri"/>
                <a:ea typeface="Calibri"/>
                <a:cs typeface="Calibri"/>
                <a:sym typeface="Calibri"/>
              </a:rPr>
              <a:t>✔ Global contextual understanding</a:t>
            </a:r>
            <a:endParaRPr b="0" i="0" sz="850" u="none" cap="none" strike="noStrike">
              <a:solidFill>
                <a:schemeClr val="dk1"/>
              </a:solidFill>
              <a:latin typeface="Calibri"/>
              <a:ea typeface="Calibri"/>
              <a:cs typeface="Calibri"/>
              <a:sym typeface="Calibri"/>
            </a:endParaRPr>
          </a:p>
        </p:txBody>
      </p:sp>
      <p:sp>
        <p:nvSpPr>
          <p:cNvPr id="250" name="Google Shape;250;p6"/>
          <p:cNvSpPr/>
          <p:nvPr/>
        </p:nvSpPr>
        <p:spPr>
          <a:xfrm>
            <a:off x="6245352" y="4626864"/>
            <a:ext cx="2651760" cy="201168"/>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6"/>
          <p:cNvSpPr/>
          <p:nvPr/>
        </p:nvSpPr>
        <p:spPr>
          <a:xfrm>
            <a:off x="6263640" y="4626864"/>
            <a:ext cx="2633472"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850"/>
              <a:buFont typeface="Calibri"/>
              <a:buNone/>
            </a:pPr>
            <a:r>
              <a:rPr b="0" i="0" lang="en-US" sz="850" u="none" cap="none" strike="noStrike">
                <a:solidFill>
                  <a:srgbClr val="C62828"/>
                </a:solidFill>
                <a:latin typeface="Calibri"/>
                <a:ea typeface="Calibri"/>
                <a:cs typeface="Calibri"/>
                <a:sym typeface="Calibri"/>
              </a:rPr>
              <a:t>✘ Needs more data &amp; compute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7"/>
          <p:cNvSpPr/>
          <p:nvPr/>
        </p:nvSpPr>
        <p:spPr>
          <a:xfrm>
            <a:off x="0" y="0"/>
            <a:ext cx="9144000" cy="384048"/>
          </a:xfrm>
          <a:prstGeom prst="rect">
            <a:avLst/>
          </a:prstGeom>
          <a:solidFill>
            <a:srgbClr val="1A2357"/>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7"/>
          <p:cNvSpPr/>
          <p:nvPr/>
        </p:nvSpPr>
        <p:spPr>
          <a:xfrm>
            <a:off x="0" y="384048"/>
            <a:ext cx="9144000" cy="41148"/>
          </a:xfrm>
          <a:prstGeom prst="rect">
            <a:avLst/>
          </a:prstGeom>
          <a:solidFill>
            <a:srgbClr val="00838F"/>
          </a:solidFill>
          <a:ln cap="flat" cmpd="sng" w="9525">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7"/>
          <p:cNvSpPr/>
          <p:nvPr/>
        </p:nvSpPr>
        <p:spPr>
          <a:xfrm>
            <a:off x="182880" y="50000"/>
            <a:ext cx="60000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259" name="Google Shape;259;p7"/>
          <p:cNvSpPr/>
          <p:nvPr/>
        </p:nvSpPr>
        <p:spPr>
          <a:xfrm>
            <a:off x="0" y="455196"/>
            <a:ext cx="9144000" cy="330000"/>
          </a:xfrm>
          <a:prstGeom prst="rect">
            <a:avLst/>
          </a:prstGeom>
          <a:solidFill>
            <a:srgbClr val="E8F4F8"/>
          </a:solidFill>
          <a:ln>
            <a:noFill/>
          </a:ln>
        </p:spPr>
        <p:txBody>
          <a:bodyPr anchorCtr="0" anchor="ctr" bIns="91425" lIns="2746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A2357"/>
                </a:solidFill>
                <a:latin typeface="Calibri"/>
                <a:ea typeface="Calibri"/>
                <a:cs typeface="Calibri"/>
                <a:sym typeface="Calibri"/>
              </a:rPr>
              <a:t>U-Net Architecture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838F"/>
                </a:solidFill>
                <a:latin typeface="Calibri"/>
                <a:ea typeface="Calibri"/>
                <a:cs typeface="Calibri"/>
                <a:sym typeface="Calibri"/>
              </a:rPr>
              <a:t>CNN — Symmetric Encoder-Decoder for Precise Segmentation</a:t>
            </a:r>
            <a:endParaRPr b="0" i="0" sz="1400" u="none" cap="none" strike="noStrike">
              <a:solidFill>
                <a:srgbClr val="000000"/>
              </a:solidFill>
              <a:latin typeface="Arial"/>
              <a:ea typeface="Arial"/>
              <a:cs typeface="Arial"/>
              <a:sym typeface="Arial"/>
            </a:endParaRPr>
          </a:p>
        </p:txBody>
      </p:sp>
      <p:pic>
        <p:nvPicPr>
          <p:cNvPr id="260" name="Google Shape;260;p7"/>
          <p:cNvPicPr preferRelativeResize="0"/>
          <p:nvPr/>
        </p:nvPicPr>
        <p:blipFill rotWithShape="1">
          <a:blip r:embed="rId3">
            <a:alphaModFix/>
          </a:blip>
          <a:srcRect b="0" l="0" r="0" t="0"/>
          <a:stretch/>
        </p:blipFill>
        <p:spPr>
          <a:xfrm>
            <a:off x="2075025" y="967298"/>
            <a:ext cx="5328901" cy="2853249"/>
          </a:xfrm>
          <a:prstGeom prst="rect">
            <a:avLst/>
          </a:prstGeom>
          <a:noFill/>
          <a:ln>
            <a:noFill/>
          </a:ln>
        </p:spPr>
      </p:pic>
      <p:sp>
        <p:nvSpPr>
          <p:cNvPr id="261" name="Google Shape;261;p7"/>
          <p:cNvSpPr/>
          <p:nvPr/>
        </p:nvSpPr>
        <p:spPr>
          <a:xfrm>
            <a:off x="300000" y="4002650"/>
            <a:ext cx="8544000" cy="1241400"/>
          </a:xfrm>
          <a:prstGeom prst="rect">
            <a:avLst/>
          </a:prstGeom>
          <a:solidFill>
            <a:srgbClr val="F5F5F5"/>
          </a:solidFill>
          <a:ln cap="flat" cmpd="sng" w="9525">
            <a:solidFill>
              <a:srgbClr val="DDDDD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U-Net features a symmetric encoder-decoder design. The contracting path applies repeated 3x3 convolutions + ReLU and 2x2 max pooling, progressively doubling channels (64 → 128 → 256 → 512 → 1024) while halving spatial resolution.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The bottleneck captures the deepest feature representation. The expansive path uses up-convolutions (2x2 transposed convolutions) to restore resolution, while skip connections directly concatenate encoder feature maps to preserve fine spatial detail.</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This symmetric structure with skip connections enables precise boundary detection and is especially powerful for segmentation tasks with limited labelled data, as seen in glacial lake mapping.</a:t>
            </a:r>
            <a:endParaRPr b="0" i="0" sz="1100" u="none" cap="none" strike="noStrike">
              <a:solidFill>
                <a:srgbClr val="000000"/>
              </a:solidFill>
              <a:latin typeface="Arial"/>
              <a:ea typeface="Arial"/>
              <a:cs typeface="Arial"/>
              <a:sym typeface="Arial"/>
            </a:endParaRPr>
          </a:p>
        </p:txBody>
      </p:sp>
      <p:sp>
        <p:nvSpPr>
          <p:cNvPr id="262" name="Google Shape;262;p7"/>
          <p:cNvSpPr/>
          <p:nvPr/>
        </p:nvSpPr>
        <p:spPr>
          <a:xfrm>
            <a:off x="8200000" y="4970000"/>
            <a:ext cx="800000" cy="150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888888"/>
                </a:solidFill>
                <a:latin typeface="Calibri"/>
                <a:ea typeface="Calibri"/>
                <a:cs typeface="Calibri"/>
                <a:sym typeface="Calibri"/>
              </a:rPr>
              <a:t>7 / 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9"/>
          <p:cNvSpPr/>
          <p:nvPr/>
        </p:nvSpPr>
        <p:spPr>
          <a:xfrm>
            <a:off x="0" y="0"/>
            <a:ext cx="9144000" cy="384048"/>
          </a:xfrm>
          <a:prstGeom prst="rect">
            <a:avLst/>
          </a:prstGeom>
          <a:solidFill>
            <a:srgbClr val="1A2357"/>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9"/>
          <p:cNvSpPr/>
          <p:nvPr/>
        </p:nvSpPr>
        <p:spPr>
          <a:xfrm>
            <a:off x="0" y="384048"/>
            <a:ext cx="9144000" cy="41148"/>
          </a:xfrm>
          <a:prstGeom prst="rect">
            <a:avLst/>
          </a:prstGeom>
          <a:solidFill>
            <a:srgbClr val="00838F"/>
          </a:solidFill>
          <a:ln cap="flat" cmpd="sng" w="9525">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9"/>
          <p:cNvSpPr/>
          <p:nvPr/>
        </p:nvSpPr>
        <p:spPr>
          <a:xfrm>
            <a:off x="182880" y="50000"/>
            <a:ext cx="60000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270" name="Google Shape;270;p9"/>
          <p:cNvSpPr/>
          <p:nvPr/>
        </p:nvSpPr>
        <p:spPr>
          <a:xfrm>
            <a:off x="0" y="384050"/>
            <a:ext cx="9144000" cy="481200"/>
          </a:xfrm>
          <a:prstGeom prst="rect">
            <a:avLst/>
          </a:prstGeom>
          <a:solidFill>
            <a:srgbClr val="E8F4F8"/>
          </a:solidFill>
          <a:ln>
            <a:noFill/>
          </a:ln>
        </p:spPr>
        <p:txBody>
          <a:bodyPr anchorCtr="0" anchor="ctr" bIns="91425" lIns="2746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A2357"/>
                </a:solidFill>
                <a:latin typeface="Calibri"/>
                <a:ea typeface="Calibri"/>
                <a:cs typeface="Calibri"/>
                <a:sym typeface="Calibri"/>
              </a:rPr>
              <a:t>Swin Transformer Architecture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838F"/>
                </a:solidFill>
                <a:latin typeface="Calibri"/>
                <a:ea typeface="Calibri"/>
                <a:cs typeface="Calibri"/>
                <a:sym typeface="Calibri"/>
              </a:rPr>
              <a:t>Vision Transformer — Hierarchical Shifted Window Self-Attention</a:t>
            </a:r>
            <a:endParaRPr b="0" i="0" sz="1400" u="none" cap="none" strike="noStrike">
              <a:solidFill>
                <a:srgbClr val="000000"/>
              </a:solidFill>
              <a:latin typeface="Arial"/>
              <a:ea typeface="Arial"/>
              <a:cs typeface="Arial"/>
              <a:sym typeface="Arial"/>
            </a:endParaRPr>
          </a:p>
        </p:txBody>
      </p:sp>
      <p:pic>
        <p:nvPicPr>
          <p:cNvPr id="271" name="Google Shape;271;p9"/>
          <p:cNvPicPr preferRelativeResize="0"/>
          <p:nvPr/>
        </p:nvPicPr>
        <p:blipFill rotWithShape="1">
          <a:blip r:embed="rId3">
            <a:alphaModFix/>
          </a:blip>
          <a:srcRect b="0" l="0" r="0" t="0"/>
          <a:stretch/>
        </p:blipFill>
        <p:spPr>
          <a:xfrm>
            <a:off x="300000" y="865196"/>
            <a:ext cx="8544000" cy="2570967"/>
          </a:xfrm>
          <a:prstGeom prst="rect">
            <a:avLst/>
          </a:prstGeom>
          <a:noFill/>
          <a:ln>
            <a:noFill/>
          </a:ln>
        </p:spPr>
      </p:pic>
      <p:sp>
        <p:nvSpPr>
          <p:cNvPr id="272" name="Google Shape;272;p9"/>
          <p:cNvSpPr/>
          <p:nvPr/>
        </p:nvSpPr>
        <p:spPr>
          <a:xfrm>
            <a:off x="300000" y="3516163"/>
            <a:ext cx="8544000" cy="1577337"/>
          </a:xfrm>
          <a:prstGeom prst="rect">
            <a:avLst/>
          </a:prstGeom>
          <a:solidFill>
            <a:srgbClr val="F5F5F5"/>
          </a:solidFill>
          <a:ln cap="flat" cmpd="sng" w="9525">
            <a:solidFill>
              <a:srgbClr val="DDDDD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Input images (H x W x 3) are split into non-overlapping 4x4 patches, producing H/4 x W/4 tokens. A linear embedding projects these into dimension C. Stage 1 applies 2 Swin Transformer Blocks with local window attention and cyclic shifted windows (SW-MSA) for cross-window connectivity.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Patch Merging layers between stages halve the spatial resolution and double the channel count (C → 2C → 4C → 8C), creating a 4-level feature hierarchy. Stages 2 and 4 use 2 blocks each; Stage 3 uses 6 blocks for deeper representation.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Shifted Window Self-Attention (SWSA) enables efficient long-range dependency modelling within a hierarchical structure — giving the model global contextual understanding critical for complex lake boundary delineation.</a:t>
            </a:r>
            <a:endParaRPr b="0" i="0" sz="1100" u="none" cap="none" strike="noStrike">
              <a:solidFill>
                <a:srgbClr val="000000"/>
              </a:solidFill>
              <a:latin typeface="Arial"/>
              <a:ea typeface="Arial"/>
              <a:cs typeface="Arial"/>
              <a:sym typeface="Arial"/>
            </a:endParaRPr>
          </a:p>
        </p:txBody>
      </p:sp>
      <p:sp>
        <p:nvSpPr>
          <p:cNvPr id="273" name="Google Shape;273;p9"/>
          <p:cNvSpPr/>
          <p:nvPr/>
        </p:nvSpPr>
        <p:spPr>
          <a:xfrm>
            <a:off x="8200000" y="4970000"/>
            <a:ext cx="800000" cy="150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888888"/>
                </a:solidFill>
                <a:latin typeface="Calibri"/>
                <a:ea typeface="Calibri"/>
                <a:cs typeface="Calibri"/>
                <a:sym typeface="Calibri"/>
              </a:rPr>
              <a:t>9 / 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8"/>
          <p:cNvSpPr/>
          <p:nvPr/>
        </p:nvSpPr>
        <p:spPr>
          <a:xfrm>
            <a:off x="0" y="0"/>
            <a:ext cx="9144000" cy="384048"/>
          </a:xfrm>
          <a:prstGeom prst="rect">
            <a:avLst/>
          </a:prstGeom>
          <a:solidFill>
            <a:srgbClr val="1A2357"/>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p:nvPr/>
        </p:nvSpPr>
        <p:spPr>
          <a:xfrm>
            <a:off x="0" y="384048"/>
            <a:ext cx="9144000" cy="41148"/>
          </a:xfrm>
          <a:prstGeom prst="rect">
            <a:avLst/>
          </a:prstGeom>
          <a:solidFill>
            <a:srgbClr val="00838F"/>
          </a:solidFill>
          <a:ln cap="flat" cmpd="sng" w="9525">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182880" y="50000"/>
            <a:ext cx="60000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0" y="455196"/>
            <a:ext cx="9144000" cy="330000"/>
          </a:xfrm>
          <a:prstGeom prst="rect">
            <a:avLst/>
          </a:prstGeom>
          <a:solidFill>
            <a:srgbClr val="E8F4F8"/>
          </a:solidFill>
          <a:ln>
            <a:noFill/>
          </a:ln>
        </p:spPr>
        <p:txBody>
          <a:bodyPr anchorCtr="0" anchor="ctr" bIns="91425" lIns="2746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A2357"/>
                </a:solidFill>
                <a:latin typeface="Calibri"/>
                <a:ea typeface="Calibri"/>
                <a:cs typeface="Calibri"/>
                <a:sym typeface="Calibri"/>
              </a:rPr>
              <a:t>DeepLabV3+ Architecture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838F"/>
                </a:solidFill>
                <a:latin typeface="Calibri"/>
                <a:ea typeface="Calibri"/>
                <a:cs typeface="Calibri"/>
                <a:sym typeface="Calibri"/>
              </a:rPr>
              <a:t>CNN + Atrous Spatial Pyramid Pooling — Multi-Scale Semantic Segmentation</a:t>
            </a:r>
            <a:endParaRPr b="0" i="0" sz="1400" u="none" cap="none" strike="noStrike">
              <a:solidFill>
                <a:srgbClr val="000000"/>
              </a:solidFill>
              <a:latin typeface="Arial"/>
              <a:ea typeface="Arial"/>
              <a:cs typeface="Arial"/>
              <a:sym typeface="Arial"/>
            </a:endParaRPr>
          </a:p>
        </p:txBody>
      </p:sp>
      <p:pic>
        <p:nvPicPr>
          <p:cNvPr id="282" name="Google Shape;282;p8"/>
          <p:cNvPicPr preferRelativeResize="0"/>
          <p:nvPr/>
        </p:nvPicPr>
        <p:blipFill rotWithShape="1">
          <a:blip r:embed="rId3">
            <a:alphaModFix/>
          </a:blip>
          <a:srcRect b="0" l="0" r="0" t="0"/>
          <a:stretch/>
        </p:blipFill>
        <p:spPr>
          <a:xfrm>
            <a:off x="1298850" y="865200"/>
            <a:ext cx="6546301" cy="3138500"/>
          </a:xfrm>
          <a:prstGeom prst="rect">
            <a:avLst/>
          </a:prstGeom>
          <a:noFill/>
          <a:ln>
            <a:noFill/>
          </a:ln>
        </p:spPr>
      </p:pic>
      <p:sp>
        <p:nvSpPr>
          <p:cNvPr id="283" name="Google Shape;283;p8"/>
          <p:cNvSpPr/>
          <p:nvPr/>
        </p:nvSpPr>
        <p:spPr>
          <a:xfrm>
            <a:off x="300000" y="4003700"/>
            <a:ext cx="8544000" cy="1089900"/>
          </a:xfrm>
          <a:prstGeom prst="rect">
            <a:avLst/>
          </a:prstGeom>
          <a:solidFill>
            <a:srgbClr val="F5F5F5"/>
          </a:solidFill>
          <a:ln cap="flat" cmpd="sng" w="9525">
            <a:solidFill>
              <a:srgbClr val="DDDDD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The encoder uses a DCNN backbone (ResNet50) with atrous (dilated) convolutions that expand the receptive field without loss of resolution. The ASPP module applies parallel dilated convolutions at rates 6, 12, and 18 alongside image-level pooling to capture multi-scale context.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ASPP outputs are concatenated and reduced via a 1x1 convolution, then upsampled 4x. The decoder concatenates this with low-level features from the backbone, refines via a 3x3 convolution, and applies a final 4x upsample to produce the pixel-level prediction.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50"/>
              <a:buFont typeface="Arial"/>
              <a:buNone/>
            </a:pPr>
            <a:r>
              <a:rPr b="0" i="0" lang="en-US" sz="1100" u="none" cap="none" strike="noStrike">
                <a:solidFill>
                  <a:srgbClr val="333333"/>
                </a:solidFill>
                <a:latin typeface="Calibri"/>
                <a:ea typeface="Calibri"/>
                <a:cs typeface="Calibri"/>
                <a:sym typeface="Calibri"/>
              </a:rPr>
              <a:t>This architecture excels at capturing both fine boundaries and broad semantic context — key advantages for segmenting small and irregular glacial lake regions.</a:t>
            </a:r>
            <a:endParaRPr b="0" i="0" sz="1100" u="none" cap="none" strike="noStrike">
              <a:solidFill>
                <a:srgbClr val="000000"/>
              </a:solidFill>
              <a:latin typeface="Arial"/>
              <a:ea typeface="Arial"/>
              <a:cs typeface="Arial"/>
              <a:sym typeface="Arial"/>
            </a:endParaRPr>
          </a:p>
        </p:txBody>
      </p:sp>
      <p:sp>
        <p:nvSpPr>
          <p:cNvPr id="284" name="Google Shape;284;p8"/>
          <p:cNvSpPr/>
          <p:nvPr/>
        </p:nvSpPr>
        <p:spPr>
          <a:xfrm>
            <a:off x="8200000" y="4970000"/>
            <a:ext cx="800000" cy="150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888888"/>
                </a:solidFill>
                <a:latin typeface="Calibri"/>
                <a:ea typeface="Calibri"/>
                <a:cs typeface="Calibri"/>
                <a:sym typeface="Calibri"/>
              </a:rPr>
              <a:t>8 / 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0"/>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0"/>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293" name="Google Shape;293;p10"/>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0"/>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0"/>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0"/>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0"/>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298" name="Google Shape;298;p10"/>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10 / 22</a:t>
            </a:r>
            <a:endParaRPr b="0" i="0" sz="700" u="none" cap="none" strike="noStrike">
              <a:solidFill>
                <a:schemeClr val="dk1"/>
              </a:solidFill>
              <a:latin typeface="Calibri"/>
              <a:ea typeface="Calibri"/>
              <a:cs typeface="Calibri"/>
              <a:sym typeface="Calibri"/>
            </a:endParaRPr>
          </a:p>
        </p:txBody>
      </p:sp>
      <p:sp>
        <p:nvSpPr>
          <p:cNvPr id="299" name="Google Shape;299;p10"/>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Training Configuration</a:t>
            </a:r>
            <a:endParaRPr b="0" i="0" sz="2200" u="none" cap="none" strike="noStrike">
              <a:solidFill>
                <a:schemeClr val="dk1"/>
              </a:solidFill>
              <a:latin typeface="Calibri"/>
              <a:ea typeface="Calibri"/>
              <a:cs typeface="Calibri"/>
              <a:sym typeface="Calibri"/>
            </a:endParaRPr>
          </a:p>
        </p:txBody>
      </p:sp>
      <p:sp>
        <p:nvSpPr>
          <p:cNvPr id="300" name="Google Shape;300;p10"/>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0"/>
          <p:cNvSpPr/>
          <p:nvPr/>
        </p:nvSpPr>
        <p:spPr>
          <a:xfrm>
            <a:off x="274320" y="1207008"/>
            <a:ext cx="2560320" cy="384048"/>
          </a:xfrm>
          <a:prstGeom prst="rect">
            <a:avLst/>
          </a:prstGeom>
          <a:solidFill>
            <a:srgbClr val="1A2357"/>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0"/>
          <p:cNvSpPr/>
          <p:nvPr/>
        </p:nvSpPr>
        <p:spPr>
          <a:xfrm>
            <a:off x="2834640" y="1207008"/>
            <a:ext cx="3657600" cy="384048"/>
          </a:xfrm>
          <a:prstGeom prst="rect">
            <a:avLst/>
          </a:prstGeom>
          <a:solidFill>
            <a:srgbClr val="00838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0"/>
          <p:cNvSpPr/>
          <p:nvPr/>
        </p:nvSpPr>
        <p:spPr>
          <a:xfrm>
            <a:off x="320040" y="1207008"/>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Parameter</a:t>
            </a:r>
            <a:endParaRPr b="0" i="0" sz="1100" u="none" cap="none" strike="noStrike">
              <a:solidFill>
                <a:schemeClr val="dk1"/>
              </a:solidFill>
              <a:latin typeface="Calibri"/>
              <a:ea typeface="Calibri"/>
              <a:cs typeface="Calibri"/>
              <a:sym typeface="Calibri"/>
            </a:endParaRPr>
          </a:p>
        </p:txBody>
      </p:sp>
      <p:sp>
        <p:nvSpPr>
          <p:cNvPr id="304" name="Google Shape;304;p10"/>
          <p:cNvSpPr/>
          <p:nvPr/>
        </p:nvSpPr>
        <p:spPr>
          <a:xfrm>
            <a:off x="2880360" y="1207008"/>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Value</a:t>
            </a:r>
            <a:endParaRPr b="0" i="0" sz="1100" u="none" cap="none" strike="noStrike">
              <a:solidFill>
                <a:schemeClr val="dk1"/>
              </a:solidFill>
              <a:latin typeface="Calibri"/>
              <a:ea typeface="Calibri"/>
              <a:cs typeface="Calibri"/>
              <a:sym typeface="Calibri"/>
            </a:endParaRPr>
          </a:p>
        </p:txBody>
      </p:sp>
      <p:sp>
        <p:nvSpPr>
          <p:cNvPr id="305" name="Google Shape;305;p10"/>
          <p:cNvSpPr/>
          <p:nvPr/>
        </p:nvSpPr>
        <p:spPr>
          <a:xfrm>
            <a:off x="274320" y="1609344"/>
            <a:ext cx="256032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0"/>
          <p:cNvSpPr/>
          <p:nvPr/>
        </p:nvSpPr>
        <p:spPr>
          <a:xfrm>
            <a:off x="2834640" y="1609344"/>
            <a:ext cx="365760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
          <p:cNvSpPr/>
          <p:nvPr/>
        </p:nvSpPr>
        <p:spPr>
          <a:xfrm>
            <a:off x="320040" y="1609344"/>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Input Image Size</a:t>
            </a:r>
            <a:endParaRPr b="0" i="0" sz="1050" u="none" cap="none" strike="noStrike">
              <a:solidFill>
                <a:schemeClr val="dk1"/>
              </a:solidFill>
              <a:latin typeface="Calibri"/>
              <a:ea typeface="Calibri"/>
              <a:cs typeface="Calibri"/>
              <a:sym typeface="Calibri"/>
            </a:endParaRPr>
          </a:p>
        </p:txBody>
      </p:sp>
      <p:sp>
        <p:nvSpPr>
          <p:cNvPr id="308" name="Google Shape;308;p10"/>
          <p:cNvSpPr/>
          <p:nvPr/>
        </p:nvSpPr>
        <p:spPr>
          <a:xfrm>
            <a:off x="2880360" y="1609344"/>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224 × 224 px</a:t>
            </a:r>
            <a:endParaRPr b="0" i="0" sz="1050" u="none" cap="none" strike="noStrike">
              <a:solidFill>
                <a:schemeClr val="dk1"/>
              </a:solidFill>
              <a:latin typeface="Calibri"/>
              <a:ea typeface="Calibri"/>
              <a:cs typeface="Calibri"/>
              <a:sym typeface="Calibri"/>
            </a:endParaRPr>
          </a:p>
        </p:txBody>
      </p:sp>
      <p:sp>
        <p:nvSpPr>
          <p:cNvPr id="309" name="Google Shape;309;p10"/>
          <p:cNvSpPr/>
          <p:nvPr/>
        </p:nvSpPr>
        <p:spPr>
          <a:xfrm>
            <a:off x="274320" y="2011680"/>
            <a:ext cx="256032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
          <p:cNvSpPr/>
          <p:nvPr/>
        </p:nvSpPr>
        <p:spPr>
          <a:xfrm>
            <a:off x="2834640" y="2011680"/>
            <a:ext cx="365760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0"/>
          <p:cNvSpPr/>
          <p:nvPr/>
        </p:nvSpPr>
        <p:spPr>
          <a:xfrm>
            <a:off x="320040" y="2011680"/>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Batch Size</a:t>
            </a:r>
            <a:endParaRPr b="0" i="0" sz="1050" u="none" cap="none" strike="noStrike">
              <a:solidFill>
                <a:schemeClr val="dk1"/>
              </a:solidFill>
              <a:latin typeface="Calibri"/>
              <a:ea typeface="Calibri"/>
              <a:cs typeface="Calibri"/>
              <a:sym typeface="Calibri"/>
            </a:endParaRPr>
          </a:p>
        </p:txBody>
      </p:sp>
      <p:sp>
        <p:nvSpPr>
          <p:cNvPr id="312" name="Google Shape;312;p10"/>
          <p:cNvSpPr/>
          <p:nvPr/>
        </p:nvSpPr>
        <p:spPr>
          <a:xfrm>
            <a:off x="2880360" y="2011680"/>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8</a:t>
            </a:r>
            <a:endParaRPr b="0" i="0" sz="1050" u="none" cap="none" strike="noStrike">
              <a:solidFill>
                <a:schemeClr val="dk1"/>
              </a:solidFill>
              <a:latin typeface="Calibri"/>
              <a:ea typeface="Calibri"/>
              <a:cs typeface="Calibri"/>
              <a:sym typeface="Calibri"/>
            </a:endParaRPr>
          </a:p>
        </p:txBody>
      </p:sp>
      <p:sp>
        <p:nvSpPr>
          <p:cNvPr id="313" name="Google Shape;313;p10"/>
          <p:cNvSpPr/>
          <p:nvPr/>
        </p:nvSpPr>
        <p:spPr>
          <a:xfrm>
            <a:off x="274320" y="2414016"/>
            <a:ext cx="256032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
          <p:cNvSpPr/>
          <p:nvPr/>
        </p:nvSpPr>
        <p:spPr>
          <a:xfrm>
            <a:off x="2834640" y="2414016"/>
            <a:ext cx="365760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0"/>
          <p:cNvSpPr/>
          <p:nvPr/>
        </p:nvSpPr>
        <p:spPr>
          <a:xfrm>
            <a:off x="320040" y="2414016"/>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Epochs</a:t>
            </a:r>
            <a:endParaRPr b="0" i="0" sz="1050" u="none" cap="none" strike="noStrike">
              <a:solidFill>
                <a:schemeClr val="dk1"/>
              </a:solidFill>
              <a:latin typeface="Calibri"/>
              <a:ea typeface="Calibri"/>
              <a:cs typeface="Calibri"/>
              <a:sym typeface="Calibri"/>
            </a:endParaRPr>
          </a:p>
        </p:txBody>
      </p:sp>
      <p:sp>
        <p:nvSpPr>
          <p:cNvPr id="316" name="Google Shape;316;p10"/>
          <p:cNvSpPr/>
          <p:nvPr/>
        </p:nvSpPr>
        <p:spPr>
          <a:xfrm>
            <a:off x="2880360" y="2414016"/>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50</a:t>
            </a:r>
            <a:endParaRPr b="0" i="0" sz="1050" u="none" cap="none" strike="noStrike">
              <a:solidFill>
                <a:schemeClr val="dk1"/>
              </a:solidFill>
              <a:latin typeface="Calibri"/>
              <a:ea typeface="Calibri"/>
              <a:cs typeface="Calibri"/>
              <a:sym typeface="Calibri"/>
            </a:endParaRPr>
          </a:p>
        </p:txBody>
      </p:sp>
      <p:sp>
        <p:nvSpPr>
          <p:cNvPr id="317" name="Google Shape;317;p10"/>
          <p:cNvSpPr/>
          <p:nvPr/>
        </p:nvSpPr>
        <p:spPr>
          <a:xfrm>
            <a:off x="274320" y="2816352"/>
            <a:ext cx="256032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0"/>
          <p:cNvSpPr/>
          <p:nvPr/>
        </p:nvSpPr>
        <p:spPr>
          <a:xfrm>
            <a:off x="2834640" y="2816352"/>
            <a:ext cx="365760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0"/>
          <p:cNvSpPr/>
          <p:nvPr/>
        </p:nvSpPr>
        <p:spPr>
          <a:xfrm>
            <a:off x="320040" y="2816352"/>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Optimizer</a:t>
            </a:r>
            <a:endParaRPr b="0" i="0" sz="1050" u="none" cap="none" strike="noStrike">
              <a:solidFill>
                <a:schemeClr val="dk1"/>
              </a:solidFill>
              <a:latin typeface="Calibri"/>
              <a:ea typeface="Calibri"/>
              <a:cs typeface="Calibri"/>
              <a:sym typeface="Calibri"/>
            </a:endParaRPr>
          </a:p>
        </p:txBody>
      </p:sp>
      <p:sp>
        <p:nvSpPr>
          <p:cNvPr id="320" name="Google Shape;320;p10"/>
          <p:cNvSpPr/>
          <p:nvPr/>
        </p:nvSpPr>
        <p:spPr>
          <a:xfrm>
            <a:off x="2880360" y="2816352"/>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Adam</a:t>
            </a:r>
            <a:endParaRPr b="0" i="0" sz="1050" u="none" cap="none" strike="noStrike">
              <a:solidFill>
                <a:schemeClr val="dk1"/>
              </a:solidFill>
              <a:latin typeface="Calibri"/>
              <a:ea typeface="Calibri"/>
              <a:cs typeface="Calibri"/>
              <a:sym typeface="Calibri"/>
            </a:endParaRPr>
          </a:p>
        </p:txBody>
      </p:sp>
      <p:sp>
        <p:nvSpPr>
          <p:cNvPr id="321" name="Google Shape;321;p10"/>
          <p:cNvSpPr/>
          <p:nvPr/>
        </p:nvSpPr>
        <p:spPr>
          <a:xfrm>
            <a:off x="274320" y="3218688"/>
            <a:ext cx="256032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0"/>
          <p:cNvSpPr/>
          <p:nvPr/>
        </p:nvSpPr>
        <p:spPr>
          <a:xfrm>
            <a:off x="2834640" y="3218688"/>
            <a:ext cx="365760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0"/>
          <p:cNvSpPr/>
          <p:nvPr/>
        </p:nvSpPr>
        <p:spPr>
          <a:xfrm>
            <a:off x="320040" y="3218688"/>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Loss Function</a:t>
            </a:r>
            <a:endParaRPr b="0" i="0" sz="1050" u="none" cap="none" strike="noStrike">
              <a:solidFill>
                <a:schemeClr val="dk1"/>
              </a:solidFill>
              <a:latin typeface="Calibri"/>
              <a:ea typeface="Calibri"/>
              <a:cs typeface="Calibri"/>
              <a:sym typeface="Calibri"/>
            </a:endParaRPr>
          </a:p>
        </p:txBody>
      </p:sp>
      <p:sp>
        <p:nvSpPr>
          <p:cNvPr id="324" name="Google Shape;324;p10"/>
          <p:cNvSpPr/>
          <p:nvPr/>
        </p:nvSpPr>
        <p:spPr>
          <a:xfrm>
            <a:off x="2880360" y="3218688"/>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Binary Cross-Entropy (BCE) + Dice</a:t>
            </a:r>
            <a:endParaRPr b="0" i="0" sz="1050" u="none" cap="none" strike="noStrike">
              <a:solidFill>
                <a:schemeClr val="dk1"/>
              </a:solidFill>
              <a:latin typeface="Calibri"/>
              <a:ea typeface="Calibri"/>
              <a:cs typeface="Calibri"/>
              <a:sym typeface="Calibri"/>
            </a:endParaRPr>
          </a:p>
        </p:txBody>
      </p:sp>
      <p:sp>
        <p:nvSpPr>
          <p:cNvPr id="325" name="Google Shape;325;p10"/>
          <p:cNvSpPr/>
          <p:nvPr/>
        </p:nvSpPr>
        <p:spPr>
          <a:xfrm>
            <a:off x="274320" y="3621024"/>
            <a:ext cx="256032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0"/>
          <p:cNvSpPr/>
          <p:nvPr/>
        </p:nvSpPr>
        <p:spPr>
          <a:xfrm>
            <a:off x="2834640" y="3621024"/>
            <a:ext cx="3657600" cy="384048"/>
          </a:xfrm>
          <a:prstGeom prst="rect">
            <a:avLst/>
          </a:prstGeom>
          <a:solidFill>
            <a:srgbClr val="F4F6FB"/>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0"/>
          <p:cNvSpPr/>
          <p:nvPr/>
        </p:nvSpPr>
        <p:spPr>
          <a:xfrm>
            <a:off x="320040" y="3621024"/>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Learning Rates</a:t>
            </a:r>
            <a:endParaRPr b="0" i="0" sz="1050" u="none" cap="none" strike="noStrike">
              <a:solidFill>
                <a:schemeClr val="dk1"/>
              </a:solidFill>
              <a:latin typeface="Calibri"/>
              <a:ea typeface="Calibri"/>
              <a:cs typeface="Calibri"/>
              <a:sym typeface="Calibri"/>
            </a:endParaRPr>
          </a:p>
        </p:txBody>
      </p:sp>
      <p:sp>
        <p:nvSpPr>
          <p:cNvPr id="328" name="Google Shape;328;p10"/>
          <p:cNvSpPr/>
          <p:nvPr/>
        </p:nvSpPr>
        <p:spPr>
          <a:xfrm>
            <a:off x="2880360" y="3621024"/>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0.001  &amp;  0.0001 &amp; 0.00001</a:t>
            </a:r>
            <a:endParaRPr b="0" i="0" sz="1050" u="none" cap="none" strike="noStrike">
              <a:solidFill>
                <a:schemeClr val="dk1"/>
              </a:solidFill>
              <a:latin typeface="Calibri"/>
              <a:ea typeface="Calibri"/>
              <a:cs typeface="Calibri"/>
              <a:sym typeface="Calibri"/>
            </a:endParaRPr>
          </a:p>
        </p:txBody>
      </p:sp>
      <p:sp>
        <p:nvSpPr>
          <p:cNvPr id="329" name="Google Shape;329;p10"/>
          <p:cNvSpPr/>
          <p:nvPr/>
        </p:nvSpPr>
        <p:spPr>
          <a:xfrm>
            <a:off x="274320" y="4023360"/>
            <a:ext cx="256032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2834640" y="4023360"/>
            <a:ext cx="3657600" cy="384048"/>
          </a:xfrm>
          <a:prstGeom prst="rect">
            <a:avLst/>
          </a:prstGeom>
          <a:solidFill>
            <a:srgbClr val="FFFFFF"/>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a:off x="320040" y="4023360"/>
            <a:ext cx="24688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050"/>
              <a:buFont typeface="Calibri"/>
              <a:buNone/>
            </a:pPr>
            <a:r>
              <a:rPr b="0" i="0" lang="en-US" sz="1050" u="none" cap="none" strike="noStrike">
                <a:solidFill>
                  <a:srgbClr val="1A2357"/>
                </a:solidFill>
                <a:latin typeface="Calibri"/>
                <a:ea typeface="Calibri"/>
                <a:cs typeface="Calibri"/>
                <a:sym typeface="Calibri"/>
              </a:rPr>
              <a:t>Train / Val / Test</a:t>
            </a:r>
            <a:endParaRPr b="0" i="0" sz="1050" u="none" cap="none" strike="noStrike">
              <a:solidFill>
                <a:schemeClr val="dk1"/>
              </a:solidFill>
              <a:latin typeface="Calibri"/>
              <a:ea typeface="Calibri"/>
              <a:cs typeface="Calibri"/>
              <a:sym typeface="Calibri"/>
            </a:endParaRPr>
          </a:p>
        </p:txBody>
      </p:sp>
      <p:sp>
        <p:nvSpPr>
          <p:cNvPr id="332" name="Google Shape;332;p10"/>
          <p:cNvSpPr/>
          <p:nvPr/>
        </p:nvSpPr>
        <p:spPr>
          <a:xfrm>
            <a:off x="2880360" y="4023360"/>
            <a:ext cx="3566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80% / 10% / 10%</a:t>
            </a:r>
            <a:endParaRPr b="0" i="0" sz="1050" u="none" cap="none" strike="noStrike">
              <a:solidFill>
                <a:schemeClr val="dk1"/>
              </a:solidFill>
              <a:latin typeface="Calibri"/>
              <a:ea typeface="Calibri"/>
              <a:cs typeface="Calibri"/>
              <a:sym typeface="Calibri"/>
            </a:endParaRPr>
          </a:p>
        </p:txBody>
      </p:sp>
      <p:sp>
        <p:nvSpPr>
          <p:cNvPr id="333" name="Google Shape;333;p10"/>
          <p:cNvSpPr/>
          <p:nvPr/>
        </p:nvSpPr>
        <p:spPr>
          <a:xfrm>
            <a:off x="6675120" y="1188720"/>
            <a:ext cx="2194560" cy="3657600"/>
          </a:xfrm>
          <a:prstGeom prst="rect">
            <a:avLst/>
          </a:prstGeom>
          <a:solidFill>
            <a:srgbClr val="F4F6FB"/>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a:off x="6675120" y="1188720"/>
            <a:ext cx="2194560" cy="3840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0"/>
          <p:cNvSpPr/>
          <p:nvPr/>
        </p:nvSpPr>
        <p:spPr>
          <a:xfrm>
            <a:off x="6675120" y="1188720"/>
            <a:ext cx="219456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Why These Choices?</a:t>
            </a:r>
            <a:endParaRPr b="0" i="0" sz="1050" u="none" cap="none" strike="noStrike">
              <a:solidFill>
                <a:schemeClr val="dk1"/>
              </a:solidFill>
              <a:latin typeface="Calibri"/>
              <a:ea typeface="Calibri"/>
              <a:cs typeface="Calibri"/>
              <a:sym typeface="Calibri"/>
            </a:endParaRPr>
          </a:p>
        </p:txBody>
      </p:sp>
      <p:sp>
        <p:nvSpPr>
          <p:cNvPr id="336" name="Google Shape;336;p10"/>
          <p:cNvSpPr/>
          <p:nvPr/>
        </p:nvSpPr>
        <p:spPr>
          <a:xfrm>
            <a:off x="6766560" y="1664208"/>
            <a:ext cx="2011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950"/>
              <a:buFont typeface="Calibri"/>
              <a:buNone/>
            </a:pPr>
            <a:r>
              <a:rPr b="1" i="0" lang="en-US" sz="950" u="none" cap="none" strike="noStrike">
                <a:solidFill>
                  <a:srgbClr val="1A2357"/>
                </a:solidFill>
                <a:latin typeface="Calibri"/>
                <a:ea typeface="Calibri"/>
                <a:cs typeface="Calibri"/>
                <a:sym typeface="Calibri"/>
              </a:rPr>
              <a:t>Adam Optimizer</a:t>
            </a:r>
            <a:endParaRPr b="0" i="0" sz="950" u="none" cap="none" strike="noStrike">
              <a:solidFill>
                <a:schemeClr val="dk1"/>
              </a:solidFill>
              <a:latin typeface="Calibri"/>
              <a:ea typeface="Calibri"/>
              <a:cs typeface="Calibri"/>
              <a:sym typeface="Calibri"/>
            </a:endParaRPr>
          </a:p>
        </p:txBody>
      </p:sp>
      <p:sp>
        <p:nvSpPr>
          <p:cNvPr id="337" name="Google Shape;337;p10"/>
          <p:cNvSpPr/>
          <p:nvPr/>
        </p:nvSpPr>
        <p:spPr>
          <a:xfrm>
            <a:off x="6766560" y="1938528"/>
            <a:ext cx="20116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Adaptive LR for complex architectures; faster &amp; stable convergence</a:t>
            </a:r>
            <a:endParaRPr b="0" i="0" sz="850" u="none" cap="none" strike="noStrike">
              <a:solidFill>
                <a:schemeClr val="dk1"/>
              </a:solidFill>
              <a:latin typeface="Calibri"/>
              <a:ea typeface="Calibri"/>
              <a:cs typeface="Calibri"/>
              <a:sym typeface="Calibri"/>
            </a:endParaRPr>
          </a:p>
        </p:txBody>
      </p:sp>
      <p:sp>
        <p:nvSpPr>
          <p:cNvPr id="338" name="Google Shape;338;p10"/>
          <p:cNvSpPr/>
          <p:nvPr/>
        </p:nvSpPr>
        <p:spPr>
          <a:xfrm>
            <a:off x="6766560" y="2414016"/>
            <a:ext cx="2011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950"/>
              <a:buFont typeface="Calibri"/>
              <a:buNone/>
            </a:pPr>
            <a:r>
              <a:rPr b="1" i="0" lang="en-US" sz="950" u="none" cap="none" strike="noStrike">
                <a:solidFill>
                  <a:srgbClr val="1A2357"/>
                </a:solidFill>
                <a:latin typeface="Calibri"/>
                <a:ea typeface="Calibri"/>
                <a:cs typeface="Calibri"/>
                <a:sym typeface="Calibri"/>
              </a:rPr>
              <a:t>BCE Loss</a:t>
            </a:r>
            <a:endParaRPr b="0" i="0" sz="950" u="none" cap="none" strike="noStrike">
              <a:solidFill>
                <a:schemeClr val="dk1"/>
              </a:solidFill>
              <a:latin typeface="Calibri"/>
              <a:ea typeface="Calibri"/>
              <a:cs typeface="Calibri"/>
              <a:sym typeface="Calibri"/>
            </a:endParaRPr>
          </a:p>
        </p:txBody>
      </p:sp>
      <p:sp>
        <p:nvSpPr>
          <p:cNvPr id="339" name="Google Shape;339;p10"/>
          <p:cNvSpPr/>
          <p:nvPr/>
        </p:nvSpPr>
        <p:spPr>
          <a:xfrm>
            <a:off x="6766560" y="2688336"/>
            <a:ext cx="20116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Ideal for binary masks; penalizes pixel-wise errors precisely</a:t>
            </a:r>
            <a:endParaRPr b="0" i="0" sz="850" u="none" cap="none" strike="noStrike">
              <a:solidFill>
                <a:schemeClr val="dk1"/>
              </a:solidFill>
              <a:latin typeface="Calibri"/>
              <a:ea typeface="Calibri"/>
              <a:cs typeface="Calibri"/>
              <a:sym typeface="Calibri"/>
            </a:endParaRPr>
          </a:p>
        </p:txBody>
      </p:sp>
      <p:sp>
        <p:nvSpPr>
          <p:cNvPr id="340" name="Google Shape;340;p10"/>
          <p:cNvSpPr/>
          <p:nvPr/>
        </p:nvSpPr>
        <p:spPr>
          <a:xfrm>
            <a:off x="6766560" y="3163824"/>
            <a:ext cx="2011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950"/>
              <a:buFont typeface="Calibri"/>
              <a:buNone/>
            </a:pPr>
            <a:r>
              <a:rPr b="1" i="0" lang="en-US" sz="950" u="none" cap="none" strike="noStrike">
                <a:solidFill>
                  <a:srgbClr val="1A2357"/>
                </a:solidFill>
                <a:latin typeface="Calibri"/>
                <a:ea typeface="Calibri"/>
                <a:cs typeface="Calibri"/>
                <a:sym typeface="Calibri"/>
              </a:rPr>
              <a:t>Triple LR Study</a:t>
            </a:r>
            <a:endParaRPr b="0" i="0" sz="950" u="none" cap="none" strike="noStrike">
              <a:solidFill>
                <a:schemeClr val="dk1"/>
              </a:solidFill>
              <a:latin typeface="Calibri"/>
              <a:ea typeface="Calibri"/>
              <a:cs typeface="Calibri"/>
              <a:sym typeface="Calibri"/>
            </a:endParaRPr>
          </a:p>
        </p:txBody>
      </p:sp>
      <p:sp>
        <p:nvSpPr>
          <p:cNvPr id="341" name="Google Shape;341;p10"/>
          <p:cNvSpPr/>
          <p:nvPr/>
        </p:nvSpPr>
        <p:spPr>
          <a:xfrm>
            <a:off x="6766560" y="3438144"/>
            <a:ext cx="20116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Compares fast convergence (0.001) vs stable training (0.0001) vs slow convergence (0.00001)</a:t>
            </a:r>
            <a:endParaRPr b="0" i="0" sz="850" u="none" cap="none" strike="noStrike">
              <a:solidFill>
                <a:schemeClr val="dk1"/>
              </a:solidFill>
              <a:latin typeface="Calibri"/>
              <a:ea typeface="Calibri"/>
              <a:cs typeface="Calibri"/>
              <a:sym typeface="Calibri"/>
            </a:endParaRPr>
          </a:p>
        </p:txBody>
      </p:sp>
      <p:sp>
        <p:nvSpPr>
          <p:cNvPr id="342" name="Google Shape;342;p10"/>
          <p:cNvSpPr/>
          <p:nvPr/>
        </p:nvSpPr>
        <p:spPr>
          <a:xfrm>
            <a:off x="6766560" y="3913632"/>
            <a:ext cx="2011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950"/>
              <a:buFont typeface="Calibri"/>
              <a:buNone/>
            </a:pPr>
            <a:r>
              <a:rPr b="1" i="0" lang="en-US" sz="950" u="none" cap="none" strike="noStrike">
                <a:solidFill>
                  <a:srgbClr val="1A2357"/>
                </a:solidFill>
                <a:latin typeface="Calibri"/>
                <a:ea typeface="Calibri"/>
                <a:cs typeface="Calibri"/>
                <a:sym typeface="Calibri"/>
              </a:rPr>
              <a:t>50 Epochs</a:t>
            </a:r>
            <a:endParaRPr b="0" i="0" sz="950" u="none" cap="none" strike="noStrike">
              <a:solidFill>
                <a:schemeClr val="dk1"/>
              </a:solidFill>
              <a:latin typeface="Calibri"/>
              <a:ea typeface="Calibri"/>
              <a:cs typeface="Calibri"/>
              <a:sym typeface="Calibri"/>
            </a:endParaRPr>
          </a:p>
        </p:txBody>
      </p:sp>
      <p:sp>
        <p:nvSpPr>
          <p:cNvPr id="343" name="Google Shape;343;p10"/>
          <p:cNvSpPr/>
          <p:nvPr/>
        </p:nvSpPr>
        <p:spPr>
          <a:xfrm>
            <a:off x="6766560" y="4187952"/>
            <a:ext cx="20116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Sufficient for convergence monitoring across all models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1"/>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1"/>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1"/>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352" name="Google Shape;352;p11"/>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1"/>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1"/>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1"/>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1"/>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357" name="Google Shape;357;p11"/>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11 / 22</a:t>
            </a:r>
            <a:endParaRPr b="0" i="0" sz="700" u="none" cap="none" strike="noStrike">
              <a:solidFill>
                <a:schemeClr val="dk1"/>
              </a:solidFill>
              <a:latin typeface="Calibri"/>
              <a:ea typeface="Calibri"/>
              <a:cs typeface="Calibri"/>
              <a:sym typeface="Calibri"/>
            </a:endParaRPr>
          </a:p>
        </p:txBody>
      </p:sp>
      <p:sp>
        <p:nvSpPr>
          <p:cNvPr id="358" name="Google Shape;358;p11"/>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Evaluation Metrics</a:t>
            </a:r>
            <a:endParaRPr b="0" i="0" sz="2200" u="none" cap="none" strike="noStrike">
              <a:solidFill>
                <a:schemeClr val="dk1"/>
              </a:solidFill>
              <a:latin typeface="Calibri"/>
              <a:ea typeface="Calibri"/>
              <a:cs typeface="Calibri"/>
              <a:sym typeface="Calibri"/>
            </a:endParaRPr>
          </a:p>
        </p:txBody>
      </p:sp>
      <p:sp>
        <p:nvSpPr>
          <p:cNvPr id="359" name="Google Shape;359;p11"/>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1"/>
          <p:cNvSpPr/>
          <p:nvPr/>
        </p:nvSpPr>
        <p:spPr>
          <a:xfrm>
            <a:off x="228600" y="1188720"/>
            <a:ext cx="2788920" cy="3566160"/>
          </a:xfrm>
          <a:prstGeom prst="rect">
            <a:avLst/>
          </a:prstGeom>
          <a:solidFill>
            <a:srgbClr val="F4F6FB"/>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1"/>
          <p:cNvSpPr/>
          <p:nvPr/>
        </p:nvSpPr>
        <p:spPr>
          <a:xfrm>
            <a:off x="228600" y="1188720"/>
            <a:ext cx="2788920" cy="59436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1"/>
          <p:cNvSpPr/>
          <p:nvPr/>
        </p:nvSpPr>
        <p:spPr>
          <a:xfrm>
            <a:off x="228600" y="1188720"/>
            <a:ext cx="27889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 PRIMARY</a:t>
            </a:r>
            <a:endParaRPr b="0" i="0" sz="750" u="none" cap="none" strike="noStrike">
              <a:solidFill>
                <a:schemeClr val="dk1"/>
              </a:solidFill>
              <a:latin typeface="Calibri"/>
              <a:ea typeface="Calibri"/>
              <a:cs typeface="Calibri"/>
              <a:sym typeface="Calibri"/>
            </a:endParaRPr>
          </a:p>
        </p:txBody>
      </p:sp>
      <p:sp>
        <p:nvSpPr>
          <p:cNvPr id="363" name="Google Shape;363;p11"/>
          <p:cNvSpPr/>
          <p:nvPr/>
        </p:nvSpPr>
        <p:spPr>
          <a:xfrm>
            <a:off x="228600" y="1389888"/>
            <a:ext cx="2788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IoU (Jaccard Index)</a:t>
            </a:r>
            <a:endParaRPr b="0" i="0" sz="1250" u="none" cap="none" strike="noStrike">
              <a:solidFill>
                <a:schemeClr val="dk1"/>
              </a:solidFill>
              <a:latin typeface="Calibri"/>
              <a:ea typeface="Calibri"/>
              <a:cs typeface="Calibri"/>
              <a:sym typeface="Calibri"/>
            </a:endParaRPr>
          </a:p>
        </p:txBody>
      </p:sp>
      <p:sp>
        <p:nvSpPr>
          <p:cNvPr id="364" name="Google Shape;364;p11"/>
          <p:cNvSpPr/>
          <p:nvPr/>
        </p:nvSpPr>
        <p:spPr>
          <a:xfrm>
            <a:off x="320040" y="1883664"/>
            <a:ext cx="2606040" cy="402336"/>
          </a:xfrm>
          <a:prstGeom prst="rect">
            <a:avLst/>
          </a:prstGeom>
          <a:solidFill>
            <a:srgbClr val="1A2357"/>
          </a:solidFill>
          <a:ln cap="flat" cmpd="sng" w="12700">
            <a:solidFill>
              <a:srgbClr val="1A2357"/>
            </a:solidFill>
            <a:prstDash val="solid"/>
            <a:round/>
            <a:headEnd len="sm" w="sm" type="none"/>
            <a:tailEnd len="sm" w="sm" type="none"/>
          </a:ln>
          <a:effectLst>
            <a:outerShdw blurRad="38100" rotWithShape="0" algn="bl" dir="8100000" dist="127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1"/>
          <p:cNvSpPr/>
          <p:nvPr/>
        </p:nvSpPr>
        <p:spPr>
          <a:xfrm>
            <a:off x="320040" y="1883664"/>
            <a:ext cx="260604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0"/>
              <a:buFont typeface="Calibri"/>
              <a:buNone/>
            </a:pPr>
            <a:r>
              <a:rPr b="1" i="1" lang="en-US" sz="1150" u="none" cap="none" strike="noStrike">
                <a:solidFill>
                  <a:srgbClr val="FFFFFF"/>
                </a:solidFill>
                <a:latin typeface="Calibri"/>
                <a:ea typeface="Calibri"/>
                <a:cs typeface="Calibri"/>
                <a:sym typeface="Calibri"/>
              </a:rPr>
              <a:t>TP / (TP + FP + FN)</a:t>
            </a:r>
            <a:endParaRPr b="0" i="0" sz="1150" u="none" cap="none" strike="noStrike">
              <a:solidFill>
                <a:schemeClr val="dk1"/>
              </a:solidFill>
              <a:latin typeface="Calibri"/>
              <a:ea typeface="Calibri"/>
              <a:cs typeface="Calibri"/>
              <a:sym typeface="Calibri"/>
            </a:endParaRPr>
          </a:p>
        </p:txBody>
      </p:sp>
      <p:sp>
        <p:nvSpPr>
          <p:cNvPr id="366" name="Google Shape;366;p11"/>
          <p:cNvSpPr/>
          <p:nvPr/>
        </p:nvSpPr>
        <p:spPr>
          <a:xfrm>
            <a:off x="338328" y="2340864"/>
            <a:ext cx="2578608" cy="1508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Measures overlap between predicted and ground truth masks. Primary metric — not biased by class imbalance.</a:t>
            </a:r>
            <a:endParaRPr b="0" i="0" sz="1000" u="none" cap="none" strike="noStrike">
              <a:solidFill>
                <a:schemeClr val="dk1"/>
              </a:solidFill>
              <a:latin typeface="Calibri"/>
              <a:ea typeface="Calibri"/>
              <a:cs typeface="Calibri"/>
              <a:sym typeface="Calibri"/>
            </a:endParaRPr>
          </a:p>
        </p:txBody>
      </p:sp>
      <p:sp>
        <p:nvSpPr>
          <p:cNvPr id="367" name="Google Shape;367;p11"/>
          <p:cNvSpPr/>
          <p:nvPr/>
        </p:nvSpPr>
        <p:spPr>
          <a:xfrm>
            <a:off x="320040" y="4443984"/>
            <a:ext cx="2606040" cy="237744"/>
          </a:xfrm>
          <a:prstGeom prst="rect">
            <a:avLst/>
          </a:prstGeom>
          <a:solidFill>
            <a:srgbClr val="E8EAF6"/>
          </a:solidFill>
          <a:ln cap="flat" cmpd="sng" w="9525">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1"/>
          <p:cNvSpPr/>
          <p:nvPr/>
        </p:nvSpPr>
        <p:spPr>
          <a:xfrm>
            <a:off x="320040" y="4443984"/>
            <a:ext cx="26060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357"/>
              </a:buClr>
              <a:buSzPts val="850"/>
              <a:buFont typeface="Calibri"/>
              <a:buNone/>
            </a:pPr>
            <a:r>
              <a:rPr b="1" i="0" lang="en-US" sz="850" u="none" cap="none" strike="noStrike">
                <a:solidFill>
                  <a:srgbClr val="1A2357"/>
                </a:solidFill>
                <a:latin typeface="Calibri"/>
                <a:ea typeface="Calibri"/>
                <a:cs typeface="Calibri"/>
                <a:sym typeface="Calibri"/>
              </a:rPr>
              <a:t>0 → 1  (higher is better)</a:t>
            </a:r>
            <a:endParaRPr b="0" i="0" sz="850" u="none" cap="none" strike="noStrike">
              <a:solidFill>
                <a:schemeClr val="dk1"/>
              </a:solidFill>
              <a:latin typeface="Calibri"/>
              <a:ea typeface="Calibri"/>
              <a:cs typeface="Calibri"/>
              <a:sym typeface="Calibri"/>
            </a:endParaRPr>
          </a:p>
        </p:txBody>
      </p:sp>
      <p:sp>
        <p:nvSpPr>
          <p:cNvPr id="369" name="Google Shape;369;p11"/>
          <p:cNvSpPr/>
          <p:nvPr/>
        </p:nvSpPr>
        <p:spPr>
          <a:xfrm>
            <a:off x="3200400" y="1188720"/>
            <a:ext cx="2788920" cy="3566160"/>
          </a:xfrm>
          <a:prstGeom prst="rect">
            <a:avLst/>
          </a:prstGeom>
          <a:solidFill>
            <a:srgbClr val="F4F6FB"/>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1"/>
          <p:cNvSpPr/>
          <p:nvPr/>
        </p:nvSpPr>
        <p:spPr>
          <a:xfrm>
            <a:off x="3200400" y="1188720"/>
            <a:ext cx="2788920" cy="59436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1"/>
          <p:cNvSpPr/>
          <p:nvPr/>
        </p:nvSpPr>
        <p:spPr>
          <a:xfrm>
            <a:off x="3200400" y="1188720"/>
            <a:ext cx="27889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SECONDARY</a:t>
            </a:r>
            <a:endParaRPr b="0" i="0" sz="750" u="none" cap="none" strike="noStrike">
              <a:solidFill>
                <a:schemeClr val="dk1"/>
              </a:solidFill>
              <a:latin typeface="Calibri"/>
              <a:ea typeface="Calibri"/>
              <a:cs typeface="Calibri"/>
              <a:sym typeface="Calibri"/>
            </a:endParaRPr>
          </a:p>
        </p:txBody>
      </p:sp>
      <p:sp>
        <p:nvSpPr>
          <p:cNvPr id="372" name="Google Shape;372;p11"/>
          <p:cNvSpPr/>
          <p:nvPr/>
        </p:nvSpPr>
        <p:spPr>
          <a:xfrm>
            <a:off x="3200400" y="1389888"/>
            <a:ext cx="2788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Dice Coefficient</a:t>
            </a:r>
            <a:endParaRPr b="0" i="0" sz="1250" u="none" cap="none" strike="noStrike">
              <a:solidFill>
                <a:schemeClr val="dk1"/>
              </a:solidFill>
              <a:latin typeface="Calibri"/>
              <a:ea typeface="Calibri"/>
              <a:cs typeface="Calibri"/>
              <a:sym typeface="Calibri"/>
            </a:endParaRPr>
          </a:p>
        </p:txBody>
      </p:sp>
      <p:sp>
        <p:nvSpPr>
          <p:cNvPr id="373" name="Google Shape;373;p11"/>
          <p:cNvSpPr/>
          <p:nvPr/>
        </p:nvSpPr>
        <p:spPr>
          <a:xfrm>
            <a:off x="3291840" y="1883664"/>
            <a:ext cx="2606040" cy="402336"/>
          </a:xfrm>
          <a:prstGeom prst="rect">
            <a:avLst/>
          </a:prstGeom>
          <a:solidFill>
            <a:srgbClr val="00838F"/>
          </a:solidFill>
          <a:ln cap="flat" cmpd="sng" w="12700">
            <a:solidFill>
              <a:srgbClr val="00838F"/>
            </a:solidFill>
            <a:prstDash val="solid"/>
            <a:round/>
            <a:headEnd len="sm" w="sm" type="none"/>
            <a:tailEnd len="sm" w="sm" type="none"/>
          </a:ln>
          <a:effectLst>
            <a:outerShdw blurRad="38100" rotWithShape="0" algn="bl" dir="8100000" dist="127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1"/>
          <p:cNvSpPr/>
          <p:nvPr/>
        </p:nvSpPr>
        <p:spPr>
          <a:xfrm>
            <a:off x="3291840" y="1883664"/>
            <a:ext cx="260604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0"/>
              <a:buFont typeface="Calibri"/>
              <a:buNone/>
            </a:pPr>
            <a:r>
              <a:rPr b="1" i="1" lang="en-US" sz="1150" u="none" cap="none" strike="noStrike">
                <a:solidFill>
                  <a:srgbClr val="FFFFFF"/>
                </a:solidFill>
                <a:latin typeface="Calibri"/>
                <a:ea typeface="Calibri"/>
                <a:cs typeface="Calibri"/>
                <a:sym typeface="Calibri"/>
              </a:rPr>
              <a:t>2TP / (2TP + FP + FN)</a:t>
            </a:r>
            <a:endParaRPr b="0" i="0" sz="1150" u="none" cap="none" strike="noStrike">
              <a:solidFill>
                <a:schemeClr val="dk1"/>
              </a:solidFill>
              <a:latin typeface="Calibri"/>
              <a:ea typeface="Calibri"/>
              <a:cs typeface="Calibri"/>
              <a:sym typeface="Calibri"/>
            </a:endParaRPr>
          </a:p>
        </p:txBody>
      </p:sp>
      <p:sp>
        <p:nvSpPr>
          <p:cNvPr id="375" name="Google Shape;375;p11"/>
          <p:cNvSpPr/>
          <p:nvPr/>
        </p:nvSpPr>
        <p:spPr>
          <a:xfrm>
            <a:off x="3310128" y="2340864"/>
            <a:ext cx="2578608" cy="1508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Closely related to IoU. Gives more weight to correctly predicted lake pixels. Sensitive to boundary precision.</a:t>
            </a:r>
            <a:endParaRPr b="0" i="0" sz="1000" u="none" cap="none" strike="noStrike">
              <a:solidFill>
                <a:schemeClr val="dk1"/>
              </a:solidFill>
              <a:latin typeface="Calibri"/>
              <a:ea typeface="Calibri"/>
              <a:cs typeface="Calibri"/>
              <a:sym typeface="Calibri"/>
            </a:endParaRPr>
          </a:p>
        </p:txBody>
      </p:sp>
      <p:sp>
        <p:nvSpPr>
          <p:cNvPr id="376" name="Google Shape;376;p11"/>
          <p:cNvSpPr/>
          <p:nvPr/>
        </p:nvSpPr>
        <p:spPr>
          <a:xfrm>
            <a:off x="3291840" y="4443984"/>
            <a:ext cx="2606040" cy="237744"/>
          </a:xfrm>
          <a:prstGeom prst="rect">
            <a:avLst/>
          </a:prstGeom>
          <a:solidFill>
            <a:srgbClr val="E8EAF6"/>
          </a:solidFill>
          <a:ln cap="flat" cmpd="sng" w="9525">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1"/>
          <p:cNvSpPr/>
          <p:nvPr/>
        </p:nvSpPr>
        <p:spPr>
          <a:xfrm>
            <a:off x="3291840" y="4443984"/>
            <a:ext cx="26060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838F"/>
              </a:buClr>
              <a:buSzPts val="850"/>
              <a:buFont typeface="Calibri"/>
              <a:buNone/>
            </a:pPr>
            <a:r>
              <a:rPr b="1" i="0" lang="en-US" sz="850" u="none" cap="none" strike="noStrike">
                <a:solidFill>
                  <a:srgbClr val="00838F"/>
                </a:solidFill>
                <a:latin typeface="Calibri"/>
                <a:ea typeface="Calibri"/>
                <a:cs typeface="Calibri"/>
                <a:sym typeface="Calibri"/>
              </a:rPr>
              <a:t>0 → 1  (higher is better)</a:t>
            </a:r>
            <a:endParaRPr b="0" i="0" sz="850" u="none" cap="none" strike="noStrike">
              <a:solidFill>
                <a:schemeClr val="dk1"/>
              </a:solidFill>
              <a:latin typeface="Calibri"/>
              <a:ea typeface="Calibri"/>
              <a:cs typeface="Calibri"/>
              <a:sym typeface="Calibri"/>
            </a:endParaRPr>
          </a:p>
        </p:txBody>
      </p:sp>
      <p:sp>
        <p:nvSpPr>
          <p:cNvPr id="378" name="Google Shape;378;p11"/>
          <p:cNvSpPr/>
          <p:nvPr/>
        </p:nvSpPr>
        <p:spPr>
          <a:xfrm>
            <a:off x="6172200" y="1188720"/>
            <a:ext cx="2788920" cy="3566160"/>
          </a:xfrm>
          <a:prstGeom prst="rect">
            <a:avLst/>
          </a:prstGeom>
          <a:solidFill>
            <a:srgbClr val="F4F6FB"/>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1"/>
          <p:cNvSpPr/>
          <p:nvPr/>
        </p:nvSpPr>
        <p:spPr>
          <a:xfrm>
            <a:off x="6172200" y="1188720"/>
            <a:ext cx="2788920" cy="59436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1"/>
          <p:cNvSpPr/>
          <p:nvPr/>
        </p:nvSpPr>
        <p:spPr>
          <a:xfrm>
            <a:off x="6172200" y="1188720"/>
            <a:ext cx="27889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SUPPLEMENTARY</a:t>
            </a:r>
            <a:endParaRPr b="0" i="0" sz="750" u="none" cap="none" strike="noStrike">
              <a:solidFill>
                <a:schemeClr val="dk1"/>
              </a:solidFill>
              <a:latin typeface="Calibri"/>
              <a:ea typeface="Calibri"/>
              <a:cs typeface="Calibri"/>
              <a:sym typeface="Calibri"/>
            </a:endParaRPr>
          </a:p>
        </p:txBody>
      </p:sp>
      <p:sp>
        <p:nvSpPr>
          <p:cNvPr id="381" name="Google Shape;381;p11"/>
          <p:cNvSpPr/>
          <p:nvPr/>
        </p:nvSpPr>
        <p:spPr>
          <a:xfrm>
            <a:off x="6172200" y="1389888"/>
            <a:ext cx="2788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Pixel Accuracy</a:t>
            </a:r>
            <a:endParaRPr b="0" i="0" sz="1250" u="none" cap="none" strike="noStrike">
              <a:solidFill>
                <a:schemeClr val="dk1"/>
              </a:solidFill>
              <a:latin typeface="Calibri"/>
              <a:ea typeface="Calibri"/>
              <a:cs typeface="Calibri"/>
              <a:sym typeface="Calibri"/>
            </a:endParaRPr>
          </a:p>
        </p:txBody>
      </p:sp>
      <p:sp>
        <p:nvSpPr>
          <p:cNvPr id="382" name="Google Shape;382;p11"/>
          <p:cNvSpPr/>
          <p:nvPr/>
        </p:nvSpPr>
        <p:spPr>
          <a:xfrm>
            <a:off x="6263640" y="1883664"/>
            <a:ext cx="2606040" cy="402336"/>
          </a:xfrm>
          <a:prstGeom prst="rect">
            <a:avLst/>
          </a:prstGeom>
          <a:solidFill>
            <a:srgbClr val="6A1B9A"/>
          </a:solidFill>
          <a:ln cap="flat" cmpd="sng" w="12700">
            <a:solidFill>
              <a:srgbClr val="6A1B9A"/>
            </a:solidFill>
            <a:prstDash val="solid"/>
            <a:round/>
            <a:headEnd len="sm" w="sm" type="none"/>
            <a:tailEnd len="sm" w="sm" type="none"/>
          </a:ln>
          <a:effectLst>
            <a:outerShdw blurRad="38100" rotWithShape="0" algn="bl" dir="8100000" dist="12700">
              <a:srgbClr val="000000">
                <a:alpha val="1490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1"/>
          <p:cNvSpPr/>
          <p:nvPr/>
        </p:nvSpPr>
        <p:spPr>
          <a:xfrm>
            <a:off x="6263640" y="1883664"/>
            <a:ext cx="260604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0"/>
              <a:buFont typeface="Calibri"/>
              <a:buNone/>
            </a:pPr>
            <a:r>
              <a:rPr b="1" i="1" lang="en-US" sz="1150" u="none" cap="none" strike="noStrike">
                <a:solidFill>
                  <a:srgbClr val="FFFFFF"/>
                </a:solidFill>
                <a:latin typeface="Calibri"/>
                <a:ea typeface="Calibri"/>
                <a:cs typeface="Calibri"/>
                <a:sym typeface="Calibri"/>
              </a:rPr>
              <a:t>(TP + TN) / (TP+TN+FP+FN)</a:t>
            </a:r>
            <a:endParaRPr b="0" i="0" sz="1150" u="none" cap="none" strike="noStrike">
              <a:solidFill>
                <a:schemeClr val="dk1"/>
              </a:solidFill>
              <a:latin typeface="Calibri"/>
              <a:ea typeface="Calibri"/>
              <a:cs typeface="Calibri"/>
              <a:sym typeface="Calibri"/>
            </a:endParaRPr>
          </a:p>
        </p:txBody>
      </p:sp>
      <p:sp>
        <p:nvSpPr>
          <p:cNvPr id="384" name="Google Shape;384;p11"/>
          <p:cNvSpPr/>
          <p:nvPr/>
        </p:nvSpPr>
        <p:spPr>
          <a:xfrm>
            <a:off x="6281928" y="2340864"/>
            <a:ext cx="2578608" cy="1508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Proportion of correctly classified pixels. High but potentially misleading on imbalanced datasets.</a:t>
            </a:r>
            <a:endParaRPr b="0" i="0" sz="1000" u="none" cap="none" strike="noStrike">
              <a:solidFill>
                <a:schemeClr val="dk1"/>
              </a:solidFill>
              <a:latin typeface="Calibri"/>
              <a:ea typeface="Calibri"/>
              <a:cs typeface="Calibri"/>
              <a:sym typeface="Calibri"/>
            </a:endParaRPr>
          </a:p>
        </p:txBody>
      </p:sp>
      <p:sp>
        <p:nvSpPr>
          <p:cNvPr id="385" name="Google Shape;385;p11"/>
          <p:cNvSpPr/>
          <p:nvPr/>
        </p:nvSpPr>
        <p:spPr>
          <a:xfrm>
            <a:off x="6263640" y="4443984"/>
            <a:ext cx="2606040" cy="237744"/>
          </a:xfrm>
          <a:prstGeom prst="rect">
            <a:avLst/>
          </a:prstGeom>
          <a:solidFill>
            <a:srgbClr val="E8EAF6"/>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1"/>
          <p:cNvSpPr/>
          <p:nvPr/>
        </p:nvSpPr>
        <p:spPr>
          <a:xfrm>
            <a:off x="6263640" y="4443984"/>
            <a:ext cx="26060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1B9A"/>
              </a:buClr>
              <a:buSzPts val="850"/>
              <a:buFont typeface="Calibri"/>
              <a:buNone/>
            </a:pPr>
            <a:r>
              <a:rPr b="1" i="0" lang="en-US" sz="850" u="none" cap="none" strike="noStrike">
                <a:solidFill>
                  <a:srgbClr val="6A1B9A"/>
                </a:solidFill>
                <a:latin typeface="Calibri"/>
                <a:ea typeface="Calibri"/>
                <a:cs typeface="Calibri"/>
                <a:sym typeface="Calibri"/>
              </a:rPr>
              <a:t>0 → 1  (not sole metric)</a:t>
            </a:r>
            <a:endParaRPr b="0" i="0" sz="850" u="none" cap="none" strike="noStrike">
              <a:solidFill>
                <a:schemeClr val="dk1"/>
              </a:solidFill>
              <a:latin typeface="Calibri"/>
              <a:ea typeface="Calibri"/>
              <a:cs typeface="Calibri"/>
              <a:sym typeface="Calibri"/>
            </a:endParaRPr>
          </a:p>
        </p:txBody>
      </p:sp>
      <p:sp>
        <p:nvSpPr>
          <p:cNvPr id="387" name="Google Shape;387;p11"/>
          <p:cNvSpPr/>
          <p:nvPr/>
        </p:nvSpPr>
        <p:spPr>
          <a:xfrm>
            <a:off x="274325" y="4709145"/>
            <a:ext cx="85953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900"/>
              <a:buFont typeface="Calibri"/>
              <a:buNone/>
            </a:pPr>
            <a:r>
              <a:rPr b="0" i="1" lang="en-US" sz="1000" u="none" cap="none" strike="noStrike">
                <a:solidFill>
                  <a:srgbClr val="546E7A"/>
                </a:solidFill>
                <a:latin typeface="Calibri"/>
                <a:ea typeface="Calibri"/>
                <a:cs typeface="Calibri"/>
                <a:sym typeface="Calibri"/>
              </a:rPr>
              <a:t>IoU is used as the primary metric as it directly measures prediction quality without being skewed by background pixel count.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2"/>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2"/>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2"/>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396" name="Google Shape;396;p12"/>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2"/>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2"/>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2"/>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2"/>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401" name="Google Shape;401;p12"/>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12 / 22</a:t>
            </a:r>
            <a:endParaRPr b="0" i="0" sz="700" u="none" cap="none" strike="noStrike">
              <a:solidFill>
                <a:schemeClr val="dk1"/>
              </a:solidFill>
              <a:latin typeface="Calibri"/>
              <a:ea typeface="Calibri"/>
              <a:cs typeface="Calibri"/>
              <a:sym typeface="Calibri"/>
            </a:endParaRPr>
          </a:p>
        </p:txBody>
      </p:sp>
      <p:sp>
        <p:nvSpPr>
          <p:cNvPr id="402" name="Google Shape;402;p12"/>
          <p:cNvSpPr txBox="1"/>
          <p:nvPr/>
        </p:nvSpPr>
        <p:spPr>
          <a:xfrm>
            <a:off x="228600" y="475488"/>
            <a:ext cx="868680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F3A5F"/>
                </a:solidFill>
                <a:latin typeface="Arial"/>
                <a:ea typeface="Arial"/>
                <a:cs typeface="Arial"/>
                <a:sym typeface="Arial"/>
              </a:rPr>
              <a:t>Quantitative Results — Model Comparison</a:t>
            </a:r>
            <a:endParaRPr b="0" i="0" sz="1400" u="none" cap="none" strike="noStrike">
              <a:solidFill>
                <a:srgbClr val="000000"/>
              </a:solidFill>
              <a:latin typeface="Arial"/>
              <a:ea typeface="Arial"/>
              <a:cs typeface="Arial"/>
              <a:sym typeface="Arial"/>
            </a:endParaRPr>
          </a:p>
        </p:txBody>
      </p:sp>
      <p:sp>
        <p:nvSpPr>
          <p:cNvPr id="403" name="Google Shape;403;p12"/>
          <p:cNvSpPr/>
          <p:nvPr/>
        </p:nvSpPr>
        <p:spPr>
          <a:xfrm>
            <a:off x="228600" y="914400"/>
            <a:ext cx="8686800" cy="27432"/>
          </a:xfrm>
          <a:prstGeom prst="rect">
            <a:avLst/>
          </a:prstGeom>
          <a:solidFill>
            <a:srgbClr val="00838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2"/>
          <p:cNvSpPr/>
          <p:nvPr/>
        </p:nvSpPr>
        <p:spPr>
          <a:xfrm>
            <a:off x="228600" y="969264"/>
            <a:ext cx="8686800" cy="237744"/>
          </a:xfrm>
          <a:prstGeom prst="rect">
            <a:avLst/>
          </a:prstGeom>
          <a:solidFill>
            <a:srgbClr val="1A23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2"/>
          <p:cNvSpPr txBox="1"/>
          <p:nvPr/>
        </p:nvSpPr>
        <p:spPr>
          <a:xfrm>
            <a:off x="228600" y="969264"/>
            <a:ext cx="86868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LR = 1e-3</a:t>
            </a:r>
            <a:endParaRPr b="0" i="0" sz="1400" u="none" cap="none" strike="noStrike">
              <a:solidFill>
                <a:srgbClr val="000000"/>
              </a:solidFill>
              <a:latin typeface="Arial"/>
              <a:ea typeface="Arial"/>
              <a:cs typeface="Arial"/>
              <a:sym typeface="Arial"/>
            </a:endParaRPr>
          </a:p>
        </p:txBody>
      </p:sp>
      <p:graphicFrame>
        <p:nvGraphicFramePr>
          <p:cNvPr id="406" name="Google Shape;406;p12"/>
          <p:cNvGraphicFramePr/>
          <p:nvPr/>
        </p:nvGraphicFramePr>
        <p:xfrm>
          <a:off x="228600" y="1207008"/>
          <a:ext cx="3000000" cy="3000000"/>
        </p:xfrm>
        <a:graphic>
          <a:graphicData uri="http://schemas.openxmlformats.org/drawingml/2006/table">
            <a:tbl>
              <a:tblPr bandRow="1" firstRow="1">
                <a:noFill/>
                <a:tableStyleId>{BFB85BAB-02DD-4F18-BD5C-EF4B93B7C8A4}</a:tableStyleId>
              </a:tblPr>
              <a:tblGrid>
                <a:gridCol w="1600200"/>
                <a:gridCol w="1143000"/>
                <a:gridCol w="1143000"/>
                <a:gridCol w="1143000"/>
                <a:gridCol w="1143000"/>
                <a:gridCol w="1143000"/>
                <a:gridCol w="1143000"/>
              </a:tblGrid>
              <a:tr h="214875">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Model</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IoU</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IoU</a:t>
                      </a:r>
                      <a:endParaRPr sz="1400" u="none" cap="none" strike="noStrike"/>
                    </a:p>
                  </a:txBody>
                  <a:tcPr marT="36575" marB="36575" marR="54875" marL="54875">
                    <a:solidFill>
                      <a:srgbClr val="1A2357"/>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Swin Transformer</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0.6491</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0.6961</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0.9663</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0.9665</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0.2595</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0.2593</a:t>
                      </a:r>
                      <a:endParaRPr sz="1400" u="none" cap="none" strike="noStrike"/>
                    </a:p>
                  </a:txBody>
                  <a:tcPr marT="27425" marB="27425" marR="54875" marL="54875">
                    <a:solidFill>
                      <a:srgbClr val="FFFFFF"/>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U-Net</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0.5349</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0.5439</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0.9726</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0.9743</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0.3372</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0.4107</a:t>
                      </a:r>
                      <a:endParaRPr sz="1400" u="none" cap="none" strike="noStrike"/>
                    </a:p>
                  </a:txBody>
                  <a:tcPr marT="27425" marB="27425" marR="54875" marL="54875">
                    <a:solidFill>
                      <a:srgbClr val="F4F7FB"/>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DeepLabV3+</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0.4152</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0.4368</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0.9795</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0.9802</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0.4569</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0.5189</a:t>
                      </a:r>
                      <a:endParaRPr sz="1400" u="none" cap="none" strike="noStrike"/>
                    </a:p>
                  </a:txBody>
                  <a:tcPr marT="27425" marB="27425" marR="54875" marL="54875">
                    <a:solidFill>
                      <a:srgbClr val="FFFFFF"/>
                    </a:solidFill>
                  </a:tcPr>
                </a:tc>
              </a:tr>
            </a:tbl>
          </a:graphicData>
        </a:graphic>
      </p:graphicFrame>
      <p:sp>
        <p:nvSpPr>
          <p:cNvPr id="407" name="Google Shape;407;p12"/>
          <p:cNvSpPr/>
          <p:nvPr/>
        </p:nvSpPr>
        <p:spPr>
          <a:xfrm>
            <a:off x="228600" y="2212848"/>
            <a:ext cx="8686800" cy="237744"/>
          </a:xfrm>
          <a:prstGeom prst="rect">
            <a:avLst/>
          </a:prstGeom>
          <a:solidFill>
            <a:srgbClr val="1A23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2"/>
          <p:cNvSpPr txBox="1"/>
          <p:nvPr/>
        </p:nvSpPr>
        <p:spPr>
          <a:xfrm>
            <a:off x="228600" y="2212848"/>
            <a:ext cx="86868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LR = 1e-4</a:t>
            </a:r>
            <a:endParaRPr b="0" i="0" sz="1400" u="none" cap="none" strike="noStrike">
              <a:solidFill>
                <a:srgbClr val="000000"/>
              </a:solidFill>
              <a:latin typeface="Arial"/>
              <a:ea typeface="Arial"/>
              <a:cs typeface="Arial"/>
              <a:sym typeface="Arial"/>
            </a:endParaRPr>
          </a:p>
        </p:txBody>
      </p:sp>
      <p:graphicFrame>
        <p:nvGraphicFramePr>
          <p:cNvPr id="409" name="Google Shape;409;p12"/>
          <p:cNvGraphicFramePr/>
          <p:nvPr/>
        </p:nvGraphicFramePr>
        <p:xfrm>
          <a:off x="228600" y="2450591"/>
          <a:ext cx="3000000" cy="3000000"/>
        </p:xfrm>
        <a:graphic>
          <a:graphicData uri="http://schemas.openxmlformats.org/drawingml/2006/table">
            <a:tbl>
              <a:tblPr bandRow="1" firstRow="1">
                <a:noFill/>
                <a:tableStyleId>{BFB85BAB-02DD-4F18-BD5C-EF4B93B7C8A4}</a:tableStyleId>
              </a:tblPr>
              <a:tblGrid>
                <a:gridCol w="1600200"/>
                <a:gridCol w="1143000"/>
                <a:gridCol w="1143000"/>
                <a:gridCol w="1143000"/>
                <a:gridCol w="1143000"/>
                <a:gridCol w="1143000"/>
                <a:gridCol w="1143000"/>
              </a:tblGrid>
              <a:tr h="214875">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Model</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IoU</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IoU</a:t>
                      </a:r>
                      <a:endParaRPr sz="1400" u="none" cap="none" strike="noStrike"/>
                    </a:p>
                  </a:txBody>
                  <a:tcPr marT="36575" marB="36575" marR="54875" marL="54875">
                    <a:solidFill>
                      <a:srgbClr val="1A2357"/>
                    </a:solidFill>
                  </a:tcPr>
                </a:tc>
              </a:tr>
              <a:tr h="100000">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Swin Transformer</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0.5701</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0.7028</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0.9755</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0.9679</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0.3538</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0.3153</a:t>
                      </a:r>
                      <a:endParaRPr sz="1400" u="none" cap="none" strike="noStrike"/>
                    </a:p>
                  </a:txBody>
                  <a:tcPr marT="27425" marB="27425" marR="54875" marL="54875">
                    <a:solidFill>
                      <a:srgbClr val="FFFFFF"/>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U-Net</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0.4153</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0.4909</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0.9806</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0.9789</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0.4603</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0.4799</a:t>
                      </a:r>
                      <a:endParaRPr sz="1400" u="none" cap="none" strike="noStrike"/>
                    </a:p>
                  </a:txBody>
                  <a:tcPr marT="27425" marB="27425" marR="54875" marL="54875">
                    <a:solidFill>
                      <a:srgbClr val="F4F7FB"/>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solidFill>
                            <a:srgbClr val="00838F"/>
                          </a:solidFill>
                        </a:rPr>
                        <a:t>DeepLabV3+ ★</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0.1234</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0.2760</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0.9923</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0.9864</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0.8127</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00838F"/>
                          </a:solidFill>
                        </a:rPr>
                        <a:t>0.6911</a:t>
                      </a:r>
                      <a:endParaRPr sz="1400" u="none" cap="none" strike="noStrike"/>
                    </a:p>
                  </a:txBody>
                  <a:tcPr marT="27425" marB="27425" marR="54875" marL="54875">
                    <a:solidFill>
                      <a:srgbClr val="FFFFFF"/>
                    </a:solidFill>
                  </a:tcPr>
                </a:tc>
              </a:tr>
            </a:tbl>
          </a:graphicData>
        </a:graphic>
      </p:graphicFrame>
      <p:sp>
        <p:nvSpPr>
          <p:cNvPr id="410" name="Google Shape;410;p12"/>
          <p:cNvSpPr/>
          <p:nvPr/>
        </p:nvSpPr>
        <p:spPr>
          <a:xfrm>
            <a:off x="228600" y="3456432"/>
            <a:ext cx="8686800" cy="237744"/>
          </a:xfrm>
          <a:prstGeom prst="rect">
            <a:avLst/>
          </a:prstGeom>
          <a:solidFill>
            <a:srgbClr val="1A23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2"/>
          <p:cNvSpPr txBox="1"/>
          <p:nvPr/>
        </p:nvSpPr>
        <p:spPr>
          <a:xfrm>
            <a:off x="228600" y="3456432"/>
            <a:ext cx="86868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LR = 1e-5</a:t>
            </a:r>
            <a:endParaRPr b="0" i="0" sz="1400" u="none" cap="none" strike="noStrike">
              <a:solidFill>
                <a:srgbClr val="000000"/>
              </a:solidFill>
              <a:latin typeface="Arial"/>
              <a:ea typeface="Arial"/>
              <a:cs typeface="Arial"/>
              <a:sym typeface="Arial"/>
            </a:endParaRPr>
          </a:p>
        </p:txBody>
      </p:sp>
      <p:graphicFrame>
        <p:nvGraphicFramePr>
          <p:cNvPr id="412" name="Google Shape;412;p12"/>
          <p:cNvGraphicFramePr/>
          <p:nvPr/>
        </p:nvGraphicFramePr>
        <p:xfrm>
          <a:off x="228600" y="3694176"/>
          <a:ext cx="3000000" cy="3000000"/>
        </p:xfrm>
        <a:graphic>
          <a:graphicData uri="http://schemas.openxmlformats.org/drawingml/2006/table">
            <a:tbl>
              <a:tblPr bandRow="1" firstRow="1">
                <a:noFill/>
                <a:tableStyleId>{BFB85BAB-02DD-4F18-BD5C-EF4B93B7C8A4}</a:tableStyleId>
              </a:tblPr>
              <a:tblGrid>
                <a:gridCol w="1600200"/>
                <a:gridCol w="1143000"/>
                <a:gridCol w="1143000"/>
                <a:gridCol w="1143000"/>
                <a:gridCol w="1143000"/>
                <a:gridCol w="1143000"/>
                <a:gridCol w="1143000"/>
              </a:tblGrid>
              <a:tr h="214875">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Model</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Loss</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Acc</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Train IoU</a:t>
                      </a:r>
                      <a:endParaRPr sz="1400" u="none" cap="none" strike="noStrike"/>
                    </a:p>
                  </a:txBody>
                  <a:tcPr marT="36575" marB="36575" marR="54875" marL="54875">
                    <a:solidFill>
                      <a:srgbClr val="1A2357"/>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Val IoU</a:t>
                      </a:r>
                      <a:endParaRPr sz="1400" u="none" cap="none" strike="noStrike"/>
                    </a:p>
                  </a:txBody>
                  <a:tcPr marT="36575" marB="36575" marR="54875" marL="54875">
                    <a:solidFill>
                      <a:srgbClr val="1A2357"/>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Swin Transformer</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0.5857</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0.7618</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0.9757</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0.9674</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0.3557</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0.2268</a:t>
                      </a:r>
                      <a:endParaRPr sz="1400" u="none" cap="none" strike="noStrike"/>
                    </a:p>
                  </a:txBody>
                  <a:tcPr marT="27425" marB="27425" marR="54875" marL="54875">
                    <a:solidFill>
                      <a:srgbClr val="FFFFFF"/>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U-Net</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0.6034</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0.6188</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0.9677</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0.9713</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0.3989</a:t>
                      </a:r>
                      <a:endParaRPr sz="1400" u="none" cap="none" strike="noStrike"/>
                    </a:p>
                  </a:txBody>
                  <a:tcPr marT="27425" marB="27425" marR="54875" marL="54875">
                    <a:solidFill>
                      <a:srgbClr val="F4F7FB"/>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0.4355</a:t>
                      </a:r>
                      <a:endParaRPr sz="1400" u="none" cap="none" strike="noStrike"/>
                    </a:p>
                  </a:txBody>
                  <a:tcPr marT="27425" marB="27425" marR="54875" marL="54875">
                    <a:solidFill>
                      <a:srgbClr val="F4F7FB"/>
                    </a:solidFill>
                  </a:tcPr>
                </a:tc>
              </a:tr>
              <a:tr h="214875">
                <a:tc>
                  <a:txBody>
                    <a:bodyPr/>
                    <a:lstStyle/>
                    <a:p>
                      <a:pPr indent="0" lvl="0" marL="0" marR="0" rtl="0" algn="l">
                        <a:lnSpc>
                          <a:spcPct val="100000"/>
                        </a:lnSpc>
                        <a:spcBef>
                          <a:spcPts val="0"/>
                        </a:spcBef>
                        <a:spcAft>
                          <a:spcPts val="0"/>
                        </a:spcAft>
                        <a:buClr>
                          <a:srgbClr val="000000"/>
                        </a:buClr>
                        <a:buSzPts val="900"/>
                        <a:buFont typeface="Arial"/>
                        <a:buNone/>
                      </a:pPr>
                      <a:r>
                        <a:rPr b="0" lang="en-US" sz="900" u="none" cap="none" strike="noStrike">
                          <a:solidFill>
                            <a:srgbClr val="1F3A5F"/>
                          </a:solidFill>
                        </a:rPr>
                        <a:t>DeepLabV3+</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0.2787</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0.4446</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0.9865</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0.9789</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0.6404</a:t>
                      </a:r>
                      <a:endParaRPr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0" lang="en-US" sz="900" u="none" cap="none" strike="noStrike">
                          <a:solidFill>
                            <a:srgbClr val="1F3A5F"/>
                          </a:solidFill>
                        </a:rPr>
                        <a:t>0.4790</a:t>
                      </a:r>
                      <a:endParaRPr sz="1400" u="none" cap="none" strike="noStrike"/>
                    </a:p>
                  </a:txBody>
                  <a:tcPr marT="27425" marB="27425" marR="54875" marL="54875">
                    <a:solidFill>
                      <a:srgbClr val="FFFFFF"/>
                    </a:solidFill>
                  </a:tcPr>
                </a:tc>
              </a:tr>
            </a:tbl>
          </a:graphicData>
        </a:graphic>
      </p:graphicFrame>
      <p:sp>
        <p:nvSpPr>
          <p:cNvPr id="413" name="Google Shape;413;p12"/>
          <p:cNvSpPr txBox="1"/>
          <p:nvPr/>
        </p:nvSpPr>
        <p:spPr>
          <a:xfrm>
            <a:off x="228600" y="4498877"/>
            <a:ext cx="8686800" cy="23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00838F"/>
                </a:solidFill>
                <a:latin typeface="Arial"/>
                <a:ea typeface="Arial"/>
                <a:cs typeface="Arial"/>
                <a:sym typeface="Arial"/>
              </a:rPr>
              <a:t>★  DeepLabV3+ (LR = 1e-4) achieves the best Val IoU (0.6911) across all configurations.</a:t>
            </a:r>
            <a:endParaRPr b="0" i="0" sz="1400" u="none" cap="none" strike="noStrike">
              <a:solidFill>
                <a:srgbClr val="000000"/>
              </a:solidFill>
              <a:latin typeface="Arial"/>
              <a:ea typeface="Arial"/>
              <a:cs typeface="Arial"/>
              <a:sym typeface="Arial"/>
            </a:endParaRPr>
          </a:p>
        </p:txBody>
      </p:sp>
      <p:sp>
        <p:nvSpPr>
          <p:cNvPr id="414" name="Google Shape;414;p12"/>
          <p:cNvSpPr/>
          <p:nvPr/>
        </p:nvSpPr>
        <p:spPr>
          <a:xfrm>
            <a:off x="228600" y="4780000"/>
            <a:ext cx="8686800" cy="170000"/>
          </a:xfrm>
          <a:prstGeom prst="rect">
            <a:avLst/>
          </a:prstGeom>
          <a:solidFill>
            <a:srgbClr val="1A235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1000" u="none" cap="none" strike="noStrike">
                <a:solidFill>
                  <a:srgbClr val="FFFFFF"/>
                </a:solidFill>
                <a:latin typeface="Calibri"/>
                <a:ea typeface="Calibri"/>
                <a:cs typeface="Calibri"/>
                <a:sym typeface="Calibri"/>
              </a:rPr>
              <a:t>High accuracy (~98%) reflects severe class imbalance (background ≫ lake pixels) — IoU and Dice are the reliable indicators of true segmentation quality.</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3"/>
          <p:cNvSpPr/>
          <p:nvPr/>
        </p:nvSpPr>
        <p:spPr>
          <a:xfrm>
            <a:off x="228600" y="987552"/>
            <a:ext cx="8686800" cy="3831335"/>
          </a:xfrm>
          <a:prstGeom prst="rect">
            <a:avLst/>
          </a:prstGeom>
          <a:solidFill>
            <a:srgbClr val="18181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3"/>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3"/>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3"/>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423" name="Google Shape;423;p13"/>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3"/>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IIT ROORKEE</a:t>
            </a:r>
            <a:endParaRPr b="0" i="0" sz="1400" u="none" cap="none" strike="noStrike">
              <a:solidFill>
                <a:srgbClr val="000000"/>
              </a:solidFill>
              <a:latin typeface="Arial"/>
              <a:ea typeface="Arial"/>
              <a:cs typeface="Arial"/>
              <a:sym typeface="Arial"/>
            </a:endParaRPr>
          </a:p>
        </p:txBody>
      </p:sp>
      <p:sp>
        <p:nvSpPr>
          <p:cNvPr id="425" name="Google Shape;425;p13"/>
          <p:cNvSpPr txBox="1"/>
          <p:nvPr/>
        </p:nvSpPr>
        <p:spPr>
          <a:xfrm>
            <a:off x="228600" y="475488"/>
            <a:ext cx="8686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rgbClr val="1F3A5F"/>
                </a:solidFill>
              </a:rPr>
              <a:t>Model</a:t>
            </a:r>
            <a:r>
              <a:rPr b="1" i="0" lang="en-US" sz="2000" u="none" cap="none" strike="noStrike">
                <a:solidFill>
                  <a:srgbClr val="1F3A5F"/>
                </a:solidFill>
                <a:latin typeface="Arial"/>
                <a:ea typeface="Arial"/>
                <a:cs typeface="Arial"/>
                <a:sym typeface="Arial"/>
              </a:rPr>
              <a:t> Comparison — LR = 1e-3</a:t>
            </a:r>
            <a:endParaRPr b="0" i="0" sz="1400" u="none" cap="none" strike="noStrike">
              <a:solidFill>
                <a:srgbClr val="000000"/>
              </a:solidFill>
              <a:latin typeface="Arial"/>
              <a:ea typeface="Arial"/>
              <a:cs typeface="Arial"/>
              <a:sym typeface="Arial"/>
            </a:endParaRPr>
          </a:p>
        </p:txBody>
      </p:sp>
      <p:sp>
        <p:nvSpPr>
          <p:cNvPr id="426" name="Google Shape;426;p13"/>
          <p:cNvSpPr/>
          <p:nvPr/>
        </p:nvSpPr>
        <p:spPr>
          <a:xfrm>
            <a:off x="228600" y="960120"/>
            <a:ext cx="8686800" cy="27432"/>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3"/>
          <p:cNvSpPr/>
          <p:nvPr/>
        </p:nvSpPr>
        <p:spPr>
          <a:xfrm>
            <a:off x="972000" y="987552"/>
            <a:ext cx="7200000" cy="22000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Learning Rate: 1e-3</a:t>
            </a:r>
            <a:endParaRPr b="0" i="0" sz="1400" u="none" cap="none" strike="noStrike">
              <a:solidFill>
                <a:srgbClr val="000000"/>
              </a:solidFill>
              <a:latin typeface="Arial"/>
              <a:ea typeface="Arial"/>
              <a:cs typeface="Arial"/>
              <a:sym typeface="Arial"/>
            </a:endParaRPr>
          </a:p>
        </p:txBody>
      </p:sp>
      <p:pic>
        <p:nvPicPr>
          <p:cNvPr descr="plot-box-lr-1e-3.png" id="428" name="Google Shape;428;p13"/>
          <p:cNvPicPr preferRelativeResize="0"/>
          <p:nvPr/>
        </p:nvPicPr>
        <p:blipFill rotWithShape="1">
          <a:blip r:embed="rId3">
            <a:alphaModFix/>
          </a:blip>
          <a:srcRect b="0" l="0" r="0" t="0"/>
          <a:stretch/>
        </p:blipFill>
        <p:spPr>
          <a:xfrm>
            <a:off x="972000" y="1200000"/>
            <a:ext cx="7200000" cy="3550000"/>
          </a:xfrm>
          <a:prstGeom prst="rect">
            <a:avLst/>
          </a:prstGeom>
          <a:noFill/>
          <a:ln>
            <a:noFill/>
          </a:ln>
        </p:spPr>
      </p:pic>
      <p:sp>
        <p:nvSpPr>
          <p:cNvPr id="429" name="Google Shape;429;p13"/>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13 / 22</a:t>
            </a:r>
            <a:endParaRPr b="0" i="0" sz="1400" u="none" cap="none" strike="noStrike">
              <a:solidFill>
                <a:srgbClr val="000000"/>
              </a:solidFill>
              <a:latin typeface="Arial"/>
              <a:ea typeface="Arial"/>
              <a:cs typeface="Arial"/>
              <a:sym typeface="Arial"/>
            </a:endParaRPr>
          </a:p>
        </p:txBody>
      </p:sp>
      <p:sp>
        <p:nvSpPr>
          <p:cNvPr id="430" name="Google Shape;430;p13"/>
          <p:cNvSpPr/>
          <p:nvPr/>
        </p:nvSpPr>
        <p:spPr>
          <a:xfrm>
            <a:off x="228600" y="4729900"/>
            <a:ext cx="8686800" cy="253500"/>
          </a:xfrm>
          <a:prstGeom prst="rect">
            <a:avLst/>
          </a:prstGeom>
          <a:solidFill>
            <a:srgbClr val="1A235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900" u="none" cap="none" strike="noStrike">
                <a:solidFill>
                  <a:srgbClr val="FFFFFF"/>
                </a:solidFill>
                <a:latin typeface="Calibri"/>
                <a:ea typeface="Calibri"/>
                <a:cs typeface="Calibri"/>
                <a:sym typeface="Calibri"/>
              </a:rPr>
              <a:t>LR=1e-3 causes high variance in IoU (wide boxes) — models overfit quickly and diverge, especially Swin Transformer. Tight boxes indicate stable convergence; outliers suggest instability.</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4"/>
          <p:cNvSpPr/>
          <p:nvPr/>
        </p:nvSpPr>
        <p:spPr>
          <a:xfrm>
            <a:off x="228600" y="987552"/>
            <a:ext cx="8686800" cy="3831335"/>
          </a:xfrm>
          <a:prstGeom prst="rect">
            <a:avLst/>
          </a:prstGeom>
          <a:solidFill>
            <a:srgbClr val="18181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4"/>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4"/>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439" name="Google Shape;439;p14"/>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4"/>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IIT ROORKEE</a:t>
            </a:r>
            <a:endParaRPr b="0" i="0" sz="1400" u="none" cap="none" strike="noStrike">
              <a:solidFill>
                <a:srgbClr val="000000"/>
              </a:solidFill>
              <a:latin typeface="Arial"/>
              <a:ea typeface="Arial"/>
              <a:cs typeface="Arial"/>
              <a:sym typeface="Arial"/>
            </a:endParaRPr>
          </a:p>
        </p:txBody>
      </p:sp>
      <p:sp>
        <p:nvSpPr>
          <p:cNvPr id="441" name="Google Shape;441;p14"/>
          <p:cNvSpPr txBox="1"/>
          <p:nvPr/>
        </p:nvSpPr>
        <p:spPr>
          <a:xfrm>
            <a:off x="228600" y="475488"/>
            <a:ext cx="8686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rgbClr val="1F3A5F"/>
                </a:solidFill>
              </a:rPr>
              <a:t>Model</a:t>
            </a:r>
            <a:r>
              <a:rPr b="1" i="0" lang="en-US" sz="2000" u="none" cap="none" strike="noStrike">
                <a:solidFill>
                  <a:srgbClr val="1F3A5F"/>
                </a:solidFill>
                <a:latin typeface="Arial"/>
                <a:ea typeface="Arial"/>
                <a:cs typeface="Arial"/>
                <a:sym typeface="Arial"/>
              </a:rPr>
              <a:t> Comparison — LR = 1e-4</a:t>
            </a:r>
            <a:endParaRPr b="0" i="0" sz="1400" u="none" cap="none" strike="noStrike">
              <a:solidFill>
                <a:srgbClr val="000000"/>
              </a:solidFill>
              <a:latin typeface="Arial"/>
              <a:ea typeface="Arial"/>
              <a:cs typeface="Arial"/>
              <a:sym typeface="Arial"/>
            </a:endParaRPr>
          </a:p>
        </p:txBody>
      </p:sp>
      <p:sp>
        <p:nvSpPr>
          <p:cNvPr id="442" name="Google Shape;442;p14"/>
          <p:cNvSpPr/>
          <p:nvPr/>
        </p:nvSpPr>
        <p:spPr>
          <a:xfrm>
            <a:off x="228600" y="960120"/>
            <a:ext cx="8686800" cy="27432"/>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4"/>
          <p:cNvSpPr/>
          <p:nvPr/>
        </p:nvSpPr>
        <p:spPr>
          <a:xfrm>
            <a:off x="972000" y="987552"/>
            <a:ext cx="7200000" cy="22000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Learning Rate: 1e-4</a:t>
            </a:r>
            <a:endParaRPr b="0" i="0" sz="1400" u="none" cap="none" strike="noStrike">
              <a:solidFill>
                <a:srgbClr val="000000"/>
              </a:solidFill>
              <a:latin typeface="Arial"/>
              <a:ea typeface="Arial"/>
              <a:cs typeface="Arial"/>
              <a:sym typeface="Arial"/>
            </a:endParaRPr>
          </a:p>
        </p:txBody>
      </p:sp>
      <p:pic>
        <p:nvPicPr>
          <p:cNvPr descr="plot-box-lr-1e-4.png" id="444" name="Google Shape;444;p14"/>
          <p:cNvPicPr preferRelativeResize="0"/>
          <p:nvPr/>
        </p:nvPicPr>
        <p:blipFill rotWithShape="1">
          <a:blip r:embed="rId3">
            <a:alphaModFix/>
          </a:blip>
          <a:srcRect b="0" l="0" r="0" t="0"/>
          <a:stretch/>
        </p:blipFill>
        <p:spPr>
          <a:xfrm>
            <a:off x="972000" y="1200000"/>
            <a:ext cx="7200000" cy="3550000"/>
          </a:xfrm>
          <a:prstGeom prst="rect">
            <a:avLst/>
          </a:prstGeom>
          <a:noFill/>
          <a:ln>
            <a:noFill/>
          </a:ln>
        </p:spPr>
      </p:pic>
      <p:sp>
        <p:nvSpPr>
          <p:cNvPr id="445" name="Google Shape;445;p14"/>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14 / 22</a:t>
            </a:r>
            <a:endParaRPr b="0" i="0" sz="1400" u="none" cap="none" strike="noStrike">
              <a:solidFill>
                <a:srgbClr val="000000"/>
              </a:solidFill>
              <a:latin typeface="Arial"/>
              <a:ea typeface="Arial"/>
              <a:cs typeface="Arial"/>
              <a:sym typeface="Arial"/>
            </a:endParaRPr>
          </a:p>
        </p:txBody>
      </p:sp>
      <p:sp>
        <p:nvSpPr>
          <p:cNvPr id="446" name="Google Shape;446;p14"/>
          <p:cNvSpPr/>
          <p:nvPr/>
        </p:nvSpPr>
        <p:spPr>
          <a:xfrm>
            <a:off x="228600" y="4691375"/>
            <a:ext cx="8686800" cy="308400"/>
          </a:xfrm>
          <a:prstGeom prst="rect">
            <a:avLst/>
          </a:prstGeom>
          <a:solidFill>
            <a:srgbClr val="1A235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900" u="none" cap="none" strike="noStrike">
                <a:solidFill>
                  <a:srgbClr val="FFFFFF"/>
                </a:solidFill>
                <a:latin typeface="Calibri"/>
                <a:ea typeface="Calibri"/>
                <a:cs typeface="Calibri"/>
                <a:sym typeface="Calibri"/>
              </a:rPr>
              <a:t>LR=1e-4 is the sweet spot — DeepLab V3+ shows the narrowest IoU box with high median, confirming robust and stable training. U-Net and Swin shave  acceptable spread.</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5"/>
          <p:cNvSpPr/>
          <p:nvPr/>
        </p:nvSpPr>
        <p:spPr>
          <a:xfrm>
            <a:off x="228600" y="987552"/>
            <a:ext cx="8686800" cy="3831335"/>
          </a:xfrm>
          <a:prstGeom prst="rect">
            <a:avLst/>
          </a:prstGeom>
          <a:solidFill>
            <a:srgbClr val="18181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5"/>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5"/>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15"/>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455" name="Google Shape;455;p15"/>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5"/>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IIT ROORKEE</a:t>
            </a:r>
            <a:endParaRPr b="0" i="0" sz="1400" u="none" cap="none" strike="noStrike">
              <a:solidFill>
                <a:srgbClr val="000000"/>
              </a:solidFill>
              <a:latin typeface="Arial"/>
              <a:ea typeface="Arial"/>
              <a:cs typeface="Arial"/>
              <a:sym typeface="Arial"/>
            </a:endParaRPr>
          </a:p>
        </p:txBody>
      </p:sp>
      <p:sp>
        <p:nvSpPr>
          <p:cNvPr id="457" name="Google Shape;457;p15"/>
          <p:cNvSpPr txBox="1"/>
          <p:nvPr/>
        </p:nvSpPr>
        <p:spPr>
          <a:xfrm>
            <a:off x="228600" y="475488"/>
            <a:ext cx="8686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rgbClr val="1F3A5F"/>
                </a:solidFill>
              </a:rPr>
              <a:t>Model </a:t>
            </a:r>
            <a:r>
              <a:rPr b="1" i="0" lang="en-US" sz="2000" u="none" cap="none" strike="noStrike">
                <a:solidFill>
                  <a:srgbClr val="1F3A5F"/>
                </a:solidFill>
                <a:latin typeface="Arial"/>
                <a:ea typeface="Arial"/>
                <a:cs typeface="Arial"/>
                <a:sym typeface="Arial"/>
              </a:rPr>
              <a:t>Comparison — LR = 1e-5</a:t>
            </a:r>
            <a:endParaRPr b="0" i="0" sz="1400" u="none" cap="none" strike="noStrike">
              <a:solidFill>
                <a:srgbClr val="000000"/>
              </a:solidFill>
              <a:latin typeface="Arial"/>
              <a:ea typeface="Arial"/>
              <a:cs typeface="Arial"/>
              <a:sym typeface="Arial"/>
            </a:endParaRPr>
          </a:p>
        </p:txBody>
      </p:sp>
      <p:sp>
        <p:nvSpPr>
          <p:cNvPr id="458" name="Google Shape;458;p15"/>
          <p:cNvSpPr/>
          <p:nvPr/>
        </p:nvSpPr>
        <p:spPr>
          <a:xfrm>
            <a:off x="228600" y="960120"/>
            <a:ext cx="8686800" cy="27432"/>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5"/>
          <p:cNvSpPr/>
          <p:nvPr/>
        </p:nvSpPr>
        <p:spPr>
          <a:xfrm>
            <a:off x="972000" y="987552"/>
            <a:ext cx="7200000" cy="22000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Learning Rate: 1e-5</a:t>
            </a:r>
            <a:endParaRPr b="0" i="0" sz="1400" u="none" cap="none" strike="noStrike">
              <a:solidFill>
                <a:srgbClr val="000000"/>
              </a:solidFill>
              <a:latin typeface="Arial"/>
              <a:ea typeface="Arial"/>
              <a:cs typeface="Arial"/>
              <a:sym typeface="Arial"/>
            </a:endParaRPr>
          </a:p>
        </p:txBody>
      </p:sp>
      <p:pic>
        <p:nvPicPr>
          <p:cNvPr descr="plot-box-lr-1e-5.png" id="460" name="Google Shape;460;p15"/>
          <p:cNvPicPr preferRelativeResize="0"/>
          <p:nvPr/>
        </p:nvPicPr>
        <p:blipFill rotWithShape="1">
          <a:blip r:embed="rId3">
            <a:alphaModFix/>
          </a:blip>
          <a:srcRect b="0" l="0" r="0" t="0"/>
          <a:stretch/>
        </p:blipFill>
        <p:spPr>
          <a:xfrm>
            <a:off x="972000" y="1200000"/>
            <a:ext cx="7200000" cy="3550000"/>
          </a:xfrm>
          <a:prstGeom prst="rect">
            <a:avLst/>
          </a:prstGeom>
          <a:noFill/>
          <a:ln>
            <a:noFill/>
          </a:ln>
        </p:spPr>
      </p:pic>
      <p:sp>
        <p:nvSpPr>
          <p:cNvPr id="461" name="Google Shape;461;p15"/>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15 / 22</a:t>
            </a:r>
            <a:endParaRPr b="0" i="0" sz="1400" u="none" cap="none" strike="noStrike">
              <a:solidFill>
                <a:srgbClr val="000000"/>
              </a:solidFill>
              <a:latin typeface="Arial"/>
              <a:ea typeface="Arial"/>
              <a:cs typeface="Arial"/>
              <a:sym typeface="Arial"/>
            </a:endParaRPr>
          </a:p>
        </p:txBody>
      </p:sp>
      <p:sp>
        <p:nvSpPr>
          <p:cNvPr id="462" name="Google Shape;462;p15"/>
          <p:cNvSpPr/>
          <p:nvPr/>
        </p:nvSpPr>
        <p:spPr>
          <a:xfrm>
            <a:off x="228600" y="4678675"/>
            <a:ext cx="8686800" cy="304800"/>
          </a:xfrm>
          <a:prstGeom prst="rect">
            <a:avLst/>
          </a:prstGeom>
          <a:solidFill>
            <a:srgbClr val="1A235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900" u="none" cap="none" strike="noStrike">
                <a:solidFill>
                  <a:srgbClr val="FFFFFF"/>
                </a:solidFill>
                <a:latin typeface="Calibri"/>
                <a:ea typeface="Calibri"/>
                <a:cs typeface="Calibri"/>
                <a:sym typeface="Calibri"/>
              </a:rPr>
              <a:t>LR=1e-5 leads to underfitting — all models shave lower IoU median with tight but low boxes, indicating too-slow convergence within 50 epochs. More epochs or LR warmup may help.</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6"/>
          <p:cNvSpPr/>
          <p:nvPr/>
        </p:nvSpPr>
        <p:spPr>
          <a:xfrm>
            <a:off x="228600" y="987552"/>
            <a:ext cx="8686800" cy="3831335"/>
          </a:xfrm>
          <a:prstGeom prst="rect">
            <a:avLst/>
          </a:prstGeom>
          <a:solidFill>
            <a:srgbClr val="18181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6"/>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6"/>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6"/>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INDIAN INSTITUTE OF TECHNOLOGY ROORKEE</a:t>
            </a:r>
            <a:endParaRPr b="0" i="0" sz="1400" u="none" cap="none" strike="noStrike">
              <a:solidFill>
                <a:srgbClr val="000000"/>
              </a:solidFill>
              <a:latin typeface="Arial"/>
              <a:ea typeface="Arial"/>
              <a:cs typeface="Arial"/>
              <a:sym typeface="Arial"/>
            </a:endParaRPr>
          </a:p>
        </p:txBody>
      </p:sp>
      <p:sp>
        <p:nvSpPr>
          <p:cNvPr id="471" name="Google Shape;471;p16"/>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6"/>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IIT ROORKEE</a:t>
            </a:r>
            <a:endParaRPr b="0" i="0" sz="1400" u="none" cap="none" strike="noStrike">
              <a:solidFill>
                <a:srgbClr val="000000"/>
              </a:solidFill>
              <a:latin typeface="Arial"/>
              <a:ea typeface="Arial"/>
              <a:cs typeface="Arial"/>
              <a:sym typeface="Arial"/>
            </a:endParaRPr>
          </a:p>
        </p:txBody>
      </p:sp>
      <p:sp>
        <p:nvSpPr>
          <p:cNvPr id="473" name="Google Shape;473;p16"/>
          <p:cNvSpPr txBox="1"/>
          <p:nvPr/>
        </p:nvSpPr>
        <p:spPr>
          <a:xfrm>
            <a:off x="228600" y="475488"/>
            <a:ext cx="8686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3A5F"/>
                </a:solidFill>
                <a:latin typeface="Arial"/>
                <a:ea typeface="Arial"/>
                <a:cs typeface="Arial"/>
                <a:sym typeface="Arial"/>
              </a:rPr>
              <a:t>Original Images &amp; True Labels</a:t>
            </a:r>
            <a:endParaRPr b="0" i="0" sz="1400" u="none" cap="none" strike="noStrike">
              <a:solidFill>
                <a:srgbClr val="000000"/>
              </a:solidFill>
              <a:latin typeface="Arial"/>
              <a:ea typeface="Arial"/>
              <a:cs typeface="Arial"/>
              <a:sym typeface="Arial"/>
            </a:endParaRPr>
          </a:p>
        </p:txBody>
      </p:sp>
      <p:sp>
        <p:nvSpPr>
          <p:cNvPr id="474" name="Google Shape;474;p16"/>
          <p:cNvSpPr/>
          <p:nvPr/>
        </p:nvSpPr>
        <p:spPr>
          <a:xfrm>
            <a:off x="228600" y="960120"/>
            <a:ext cx="8686800" cy="27432"/>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6"/>
          <p:cNvSpPr/>
          <p:nvPr/>
        </p:nvSpPr>
        <p:spPr>
          <a:xfrm>
            <a:off x="228600" y="987552"/>
            <a:ext cx="8686800" cy="22000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Original Satellite Images</a:t>
            </a:r>
            <a:endParaRPr b="0" i="0" sz="1400" u="none" cap="none" strike="noStrike">
              <a:solidFill>
                <a:srgbClr val="000000"/>
              </a:solidFill>
              <a:latin typeface="Arial"/>
              <a:ea typeface="Arial"/>
              <a:cs typeface="Arial"/>
              <a:sym typeface="Arial"/>
            </a:endParaRPr>
          </a:p>
        </p:txBody>
      </p:sp>
      <p:sp>
        <p:nvSpPr>
          <p:cNvPr id="476" name="Google Shape;476;p16"/>
          <p:cNvSpPr/>
          <p:nvPr/>
        </p:nvSpPr>
        <p:spPr>
          <a:xfrm>
            <a:off x="228600" y="2850000"/>
            <a:ext cx="8686800" cy="220000"/>
          </a:xfrm>
          <a:prstGeom prst="rect">
            <a:avLst/>
          </a:prstGeom>
          <a:solidFill>
            <a:srgbClr val="1C5A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True Segmentation Labels</a:t>
            </a:r>
            <a:endParaRPr b="0" i="0" sz="1400" u="none" cap="none" strike="noStrike">
              <a:solidFill>
                <a:srgbClr val="000000"/>
              </a:solidFill>
              <a:latin typeface="Arial"/>
              <a:ea typeface="Arial"/>
              <a:cs typeface="Arial"/>
              <a:sym typeface="Arial"/>
            </a:endParaRPr>
          </a:p>
        </p:txBody>
      </p:sp>
      <p:pic>
        <p:nvPicPr>
          <p:cNvPr descr="Image-1e-3-16.png" id="477" name="Google Shape;477;p16"/>
          <p:cNvPicPr preferRelativeResize="0"/>
          <p:nvPr/>
        </p:nvPicPr>
        <p:blipFill rotWithShape="1">
          <a:blip r:embed="rId3">
            <a:alphaModFix/>
          </a:blip>
          <a:srcRect b="0" l="0" r="0" t="0"/>
          <a:stretch/>
        </p:blipFill>
        <p:spPr>
          <a:xfrm>
            <a:off x="1838528" y="1250000"/>
            <a:ext cx="2633472" cy="1554480"/>
          </a:xfrm>
          <a:prstGeom prst="rect">
            <a:avLst/>
          </a:prstGeom>
          <a:noFill/>
          <a:ln>
            <a:noFill/>
          </a:ln>
        </p:spPr>
      </p:pic>
      <p:pic>
        <p:nvPicPr>
          <p:cNvPr descr="Image-1e-3-17.png" id="478" name="Google Shape;478;p16"/>
          <p:cNvPicPr preferRelativeResize="0"/>
          <p:nvPr/>
        </p:nvPicPr>
        <p:blipFill rotWithShape="1">
          <a:blip r:embed="rId4">
            <a:alphaModFix/>
          </a:blip>
          <a:srcRect b="0" l="0" r="0" t="0"/>
          <a:stretch/>
        </p:blipFill>
        <p:spPr>
          <a:xfrm>
            <a:off x="4672000" y="1250000"/>
            <a:ext cx="2633472" cy="1554480"/>
          </a:xfrm>
          <a:prstGeom prst="rect">
            <a:avLst/>
          </a:prstGeom>
          <a:noFill/>
          <a:ln>
            <a:noFill/>
          </a:ln>
        </p:spPr>
      </p:pic>
      <p:pic>
        <p:nvPicPr>
          <p:cNvPr descr="Label-1e-3-16.png" id="479" name="Google Shape;479;p16"/>
          <p:cNvPicPr preferRelativeResize="0"/>
          <p:nvPr/>
        </p:nvPicPr>
        <p:blipFill rotWithShape="1">
          <a:blip r:embed="rId5">
            <a:alphaModFix/>
          </a:blip>
          <a:srcRect b="0" l="0" r="0" t="0"/>
          <a:stretch/>
        </p:blipFill>
        <p:spPr>
          <a:xfrm>
            <a:off x="1838528" y="3100000"/>
            <a:ext cx="2633472" cy="1554480"/>
          </a:xfrm>
          <a:prstGeom prst="rect">
            <a:avLst/>
          </a:prstGeom>
          <a:noFill/>
          <a:ln>
            <a:noFill/>
          </a:ln>
        </p:spPr>
      </p:pic>
      <p:pic>
        <p:nvPicPr>
          <p:cNvPr descr="Label-1e-3-17.png" id="480" name="Google Shape;480;p16"/>
          <p:cNvPicPr preferRelativeResize="0"/>
          <p:nvPr/>
        </p:nvPicPr>
        <p:blipFill rotWithShape="1">
          <a:blip r:embed="rId6">
            <a:alphaModFix/>
          </a:blip>
          <a:srcRect b="0" l="0" r="0" t="0"/>
          <a:stretch/>
        </p:blipFill>
        <p:spPr>
          <a:xfrm>
            <a:off x="4672000" y="3100000"/>
            <a:ext cx="2633472" cy="1554480"/>
          </a:xfrm>
          <a:prstGeom prst="rect">
            <a:avLst/>
          </a:prstGeom>
          <a:noFill/>
          <a:ln>
            <a:noFill/>
          </a:ln>
        </p:spPr>
      </p:pic>
      <p:sp>
        <p:nvSpPr>
          <p:cNvPr id="481" name="Google Shape;481;p16"/>
          <p:cNvSpPr txBox="1"/>
          <p:nvPr/>
        </p:nvSpPr>
        <p:spPr>
          <a:xfrm>
            <a:off x="914400" y="2870000"/>
            <a:ext cx="3200000" cy="15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AAAAA"/>
                </a:solidFill>
                <a:latin typeface="Calibri"/>
                <a:ea typeface="Calibri"/>
                <a:cs typeface="Calibri"/>
                <a:sym typeface="Calibri"/>
              </a:rPr>
              <a:t>Sample ID: 16</a:t>
            </a:r>
            <a:endParaRPr b="0" i="0" sz="1400" u="none" cap="none" strike="noStrike">
              <a:solidFill>
                <a:srgbClr val="000000"/>
              </a:solidFill>
              <a:latin typeface="Arial"/>
              <a:ea typeface="Arial"/>
              <a:cs typeface="Arial"/>
              <a:sym typeface="Arial"/>
            </a:endParaRPr>
          </a:p>
        </p:txBody>
      </p:sp>
      <p:sp>
        <p:nvSpPr>
          <p:cNvPr id="482" name="Google Shape;482;p16"/>
          <p:cNvSpPr txBox="1"/>
          <p:nvPr/>
        </p:nvSpPr>
        <p:spPr>
          <a:xfrm>
            <a:off x="5029600" y="2870000"/>
            <a:ext cx="3200000" cy="15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AAAAA"/>
                </a:solidFill>
                <a:latin typeface="Calibri"/>
                <a:ea typeface="Calibri"/>
                <a:cs typeface="Calibri"/>
                <a:sym typeface="Calibri"/>
              </a:rPr>
              <a:t>Sample ID: 17</a:t>
            </a:r>
            <a:endParaRPr b="0" i="0" sz="1400" u="none" cap="none" strike="noStrike">
              <a:solidFill>
                <a:srgbClr val="000000"/>
              </a:solidFill>
              <a:latin typeface="Arial"/>
              <a:ea typeface="Arial"/>
              <a:cs typeface="Arial"/>
              <a:sym typeface="Arial"/>
            </a:endParaRPr>
          </a:p>
        </p:txBody>
      </p:sp>
      <p:sp>
        <p:nvSpPr>
          <p:cNvPr id="483" name="Google Shape;483;p16"/>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16 / 22</a:t>
            </a:r>
            <a:endParaRPr b="0" i="0" sz="1400" u="none" cap="none" strike="noStrike">
              <a:solidFill>
                <a:srgbClr val="000000"/>
              </a:solidFill>
              <a:latin typeface="Arial"/>
              <a:ea typeface="Arial"/>
              <a:cs typeface="Arial"/>
              <a:sym typeface="Arial"/>
            </a:endParaRPr>
          </a:p>
        </p:txBody>
      </p:sp>
      <p:sp>
        <p:nvSpPr>
          <p:cNvPr id="484" name="Google Shape;484;p16"/>
          <p:cNvSpPr/>
          <p:nvPr/>
        </p:nvSpPr>
        <p:spPr>
          <a:xfrm>
            <a:off x="228600" y="4730000"/>
            <a:ext cx="8686800" cy="219900"/>
          </a:xfrm>
          <a:prstGeom prst="rect">
            <a:avLst/>
          </a:prstGeom>
          <a:solidFill>
            <a:srgbClr val="1A235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900" u="none" cap="none" strike="noStrike">
                <a:solidFill>
                  <a:srgbClr val="FFFFFF"/>
                </a:solidFill>
                <a:latin typeface="Calibri"/>
                <a:ea typeface="Calibri"/>
                <a:cs typeface="Calibri"/>
                <a:sym typeface="Calibri"/>
              </a:rPr>
              <a:t>Sample 16 contains a large, compact proglacial lake; Sample 17 shows fragmented ice-marginal lakes — testing the model’s ability to handle both dense and scattered lake geometries.</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7"/>
          <p:cNvSpPr/>
          <p:nvPr/>
        </p:nvSpPr>
        <p:spPr>
          <a:xfrm>
            <a:off x="228600" y="987552"/>
            <a:ext cx="8686800" cy="3831335"/>
          </a:xfrm>
          <a:prstGeom prst="rect">
            <a:avLst/>
          </a:prstGeom>
          <a:solidFill>
            <a:srgbClr val="18181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7"/>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7"/>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7"/>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493" name="Google Shape;493;p17"/>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7"/>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7"/>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7"/>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7"/>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498" name="Google Shape;498;p17"/>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17 / 22</a:t>
            </a:r>
            <a:endParaRPr b="0" i="0" sz="700" u="none" cap="none" strike="noStrike">
              <a:solidFill>
                <a:schemeClr val="dk1"/>
              </a:solidFill>
              <a:latin typeface="Calibri"/>
              <a:ea typeface="Calibri"/>
              <a:cs typeface="Calibri"/>
              <a:sym typeface="Calibri"/>
            </a:endParaRPr>
          </a:p>
        </p:txBody>
      </p:sp>
      <p:sp>
        <p:nvSpPr>
          <p:cNvPr id="499" name="Google Shape;499;p17"/>
          <p:cNvSpPr txBox="1"/>
          <p:nvPr/>
        </p:nvSpPr>
        <p:spPr>
          <a:xfrm>
            <a:off x="228600" y="475488"/>
            <a:ext cx="8686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3A5F"/>
                </a:solidFill>
                <a:latin typeface="Arial"/>
                <a:ea typeface="Arial"/>
                <a:cs typeface="Arial"/>
                <a:sym typeface="Arial"/>
              </a:rPr>
              <a:t>Segmentation Results — U-Net</a:t>
            </a:r>
            <a:endParaRPr b="0" i="0" sz="1400" u="none" cap="none" strike="noStrike">
              <a:solidFill>
                <a:srgbClr val="000000"/>
              </a:solidFill>
              <a:latin typeface="Arial"/>
              <a:ea typeface="Arial"/>
              <a:cs typeface="Arial"/>
              <a:sym typeface="Arial"/>
            </a:endParaRPr>
          </a:p>
        </p:txBody>
      </p:sp>
      <p:sp>
        <p:nvSpPr>
          <p:cNvPr id="500" name="Google Shape;500;p17"/>
          <p:cNvSpPr/>
          <p:nvPr/>
        </p:nvSpPr>
        <p:spPr>
          <a:xfrm>
            <a:off x="228600" y="960120"/>
            <a:ext cx="8686800" cy="274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7"/>
          <p:cNvSpPr/>
          <p:nvPr/>
        </p:nvSpPr>
        <p:spPr>
          <a:xfrm>
            <a:off x="228600"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7"/>
          <p:cNvSpPr txBox="1"/>
          <p:nvPr/>
        </p:nvSpPr>
        <p:spPr>
          <a:xfrm>
            <a:off x="228600"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1e-3</a:t>
            </a:r>
            <a:endParaRPr b="0" i="0" sz="1400" u="none" cap="none" strike="noStrike">
              <a:solidFill>
                <a:srgbClr val="000000"/>
              </a:solidFill>
              <a:latin typeface="Arial"/>
              <a:ea typeface="Arial"/>
              <a:cs typeface="Arial"/>
              <a:sym typeface="Arial"/>
            </a:endParaRPr>
          </a:p>
        </p:txBody>
      </p:sp>
      <p:sp>
        <p:nvSpPr>
          <p:cNvPr id="503" name="Google Shape;503;p17"/>
          <p:cNvSpPr/>
          <p:nvPr/>
        </p:nvSpPr>
        <p:spPr>
          <a:xfrm>
            <a:off x="3182112"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17"/>
          <p:cNvSpPr txBox="1"/>
          <p:nvPr/>
        </p:nvSpPr>
        <p:spPr>
          <a:xfrm>
            <a:off x="3182112"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1e-4</a:t>
            </a:r>
            <a:endParaRPr b="0" i="0" sz="1400" u="none" cap="none" strike="noStrike">
              <a:solidFill>
                <a:srgbClr val="000000"/>
              </a:solidFill>
              <a:latin typeface="Arial"/>
              <a:ea typeface="Arial"/>
              <a:cs typeface="Arial"/>
              <a:sym typeface="Arial"/>
            </a:endParaRPr>
          </a:p>
        </p:txBody>
      </p:sp>
      <p:sp>
        <p:nvSpPr>
          <p:cNvPr id="505" name="Google Shape;505;p17"/>
          <p:cNvSpPr/>
          <p:nvPr/>
        </p:nvSpPr>
        <p:spPr>
          <a:xfrm>
            <a:off x="6135624"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7"/>
          <p:cNvSpPr txBox="1"/>
          <p:nvPr/>
        </p:nvSpPr>
        <p:spPr>
          <a:xfrm>
            <a:off x="6135624"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1e-5</a:t>
            </a:r>
            <a:endParaRPr b="0" i="0" sz="1400" u="none" cap="none" strike="noStrike">
              <a:solidFill>
                <a:srgbClr val="000000"/>
              </a:solidFill>
              <a:latin typeface="Arial"/>
              <a:ea typeface="Arial"/>
              <a:cs typeface="Arial"/>
              <a:sym typeface="Arial"/>
            </a:endParaRPr>
          </a:p>
        </p:txBody>
      </p:sp>
      <p:sp>
        <p:nvSpPr>
          <p:cNvPr id="507" name="Google Shape;507;p17"/>
          <p:cNvSpPr/>
          <p:nvPr/>
        </p:nvSpPr>
        <p:spPr>
          <a:xfrm>
            <a:off x="228600" y="1261872"/>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7"/>
          <p:cNvSpPr txBox="1"/>
          <p:nvPr/>
        </p:nvSpPr>
        <p:spPr>
          <a:xfrm>
            <a:off x="228600" y="1261872"/>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16</a:t>
            </a:r>
            <a:endParaRPr b="0" i="0" sz="1400" u="none" cap="none" strike="noStrike">
              <a:solidFill>
                <a:srgbClr val="000000"/>
              </a:solidFill>
              <a:latin typeface="Arial"/>
              <a:ea typeface="Arial"/>
              <a:cs typeface="Arial"/>
              <a:sym typeface="Arial"/>
            </a:endParaRPr>
          </a:p>
        </p:txBody>
      </p:sp>
      <p:sp>
        <p:nvSpPr>
          <p:cNvPr id="509" name="Google Shape;509;p17"/>
          <p:cNvSpPr/>
          <p:nvPr/>
        </p:nvSpPr>
        <p:spPr>
          <a:xfrm>
            <a:off x="228600" y="3072384"/>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7"/>
          <p:cNvSpPr txBox="1"/>
          <p:nvPr/>
        </p:nvSpPr>
        <p:spPr>
          <a:xfrm>
            <a:off x="228600" y="3072384"/>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17</a:t>
            </a:r>
            <a:endParaRPr b="0" i="0" sz="1400" u="none" cap="none" strike="noStrike">
              <a:solidFill>
                <a:srgbClr val="000000"/>
              </a:solidFill>
              <a:latin typeface="Arial"/>
              <a:ea typeface="Arial"/>
              <a:cs typeface="Arial"/>
              <a:sym typeface="Arial"/>
            </a:endParaRPr>
          </a:p>
        </p:txBody>
      </p:sp>
      <p:pic>
        <p:nvPicPr>
          <p:cNvPr descr="UNet-1e-3-16.png" id="511" name="Google Shape;511;p17"/>
          <p:cNvPicPr preferRelativeResize="0"/>
          <p:nvPr/>
        </p:nvPicPr>
        <p:blipFill rotWithShape="1">
          <a:blip r:embed="rId3">
            <a:alphaModFix/>
          </a:blip>
          <a:srcRect b="0" l="0" r="0" t="0"/>
          <a:stretch/>
        </p:blipFill>
        <p:spPr>
          <a:xfrm>
            <a:off x="256032" y="1463040"/>
            <a:ext cx="2633472" cy="1554480"/>
          </a:xfrm>
          <a:prstGeom prst="rect">
            <a:avLst/>
          </a:prstGeom>
          <a:noFill/>
          <a:ln>
            <a:noFill/>
          </a:ln>
        </p:spPr>
      </p:pic>
      <p:pic>
        <p:nvPicPr>
          <p:cNvPr descr="UNet-1e-4-16.png" id="512" name="Google Shape;512;p17"/>
          <p:cNvPicPr preferRelativeResize="0"/>
          <p:nvPr/>
        </p:nvPicPr>
        <p:blipFill rotWithShape="1">
          <a:blip r:embed="rId4">
            <a:alphaModFix/>
          </a:blip>
          <a:srcRect b="0" l="0" r="0" t="0"/>
          <a:stretch/>
        </p:blipFill>
        <p:spPr>
          <a:xfrm>
            <a:off x="3209544" y="1463040"/>
            <a:ext cx="2633472" cy="1554480"/>
          </a:xfrm>
          <a:prstGeom prst="rect">
            <a:avLst/>
          </a:prstGeom>
          <a:noFill/>
          <a:ln>
            <a:noFill/>
          </a:ln>
        </p:spPr>
      </p:pic>
      <p:pic>
        <p:nvPicPr>
          <p:cNvPr descr="UNet-1e-5-16.png" id="513" name="Google Shape;513;p17"/>
          <p:cNvPicPr preferRelativeResize="0"/>
          <p:nvPr/>
        </p:nvPicPr>
        <p:blipFill rotWithShape="1">
          <a:blip r:embed="rId5">
            <a:alphaModFix/>
          </a:blip>
          <a:srcRect b="0" l="0" r="0" t="0"/>
          <a:stretch/>
        </p:blipFill>
        <p:spPr>
          <a:xfrm>
            <a:off x="6163056" y="1463040"/>
            <a:ext cx="2633472" cy="1554480"/>
          </a:xfrm>
          <a:prstGeom prst="rect">
            <a:avLst/>
          </a:prstGeom>
          <a:noFill/>
          <a:ln>
            <a:noFill/>
          </a:ln>
        </p:spPr>
      </p:pic>
      <p:pic>
        <p:nvPicPr>
          <p:cNvPr descr="UNet-1e-3-17.png" id="514" name="Google Shape;514;p17"/>
          <p:cNvPicPr preferRelativeResize="0"/>
          <p:nvPr/>
        </p:nvPicPr>
        <p:blipFill rotWithShape="1">
          <a:blip r:embed="rId6">
            <a:alphaModFix/>
          </a:blip>
          <a:srcRect b="0" l="0" r="0" t="0"/>
          <a:stretch/>
        </p:blipFill>
        <p:spPr>
          <a:xfrm>
            <a:off x="256032" y="3273552"/>
            <a:ext cx="2633472" cy="1554480"/>
          </a:xfrm>
          <a:prstGeom prst="rect">
            <a:avLst/>
          </a:prstGeom>
          <a:noFill/>
          <a:ln>
            <a:noFill/>
          </a:ln>
        </p:spPr>
      </p:pic>
      <p:pic>
        <p:nvPicPr>
          <p:cNvPr descr="UNet-1e-4-17.png" id="515" name="Google Shape;515;p17"/>
          <p:cNvPicPr preferRelativeResize="0"/>
          <p:nvPr/>
        </p:nvPicPr>
        <p:blipFill rotWithShape="1">
          <a:blip r:embed="rId7">
            <a:alphaModFix/>
          </a:blip>
          <a:srcRect b="0" l="0" r="0" t="0"/>
          <a:stretch/>
        </p:blipFill>
        <p:spPr>
          <a:xfrm>
            <a:off x="3209544" y="3273552"/>
            <a:ext cx="2633472" cy="1554480"/>
          </a:xfrm>
          <a:prstGeom prst="rect">
            <a:avLst/>
          </a:prstGeom>
          <a:noFill/>
          <a:ln>
            <a:noFill/>
          </a:ln>
        </p:spPr>
      </p:pic>
      <p:pic>
        <p:nvPicPr>
          <p:cNvPr descr="UNet-1e-5-17.png" id="516" name="Google Shape;516;p17"/>
          <p:cNvPicPr preferRelativeResize="0"/>
          <p:nvPr/>
        </p:nvPicPr>
        <p:blipFill rotWithShape="1">
          <a:blip r:embed="rId8">
            <a:alphaModFix/>
          </a:blip>
          <a:srcRect b="0" l="0" r="0" t="0"/>
          <a:stretch/>
        </p:blipFill>
        <p:spPr>
          <a:xfrm>
            <a:off x="6163056" y="3273552"/>
            <a:ext cx="2633472" cy="1554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8"/>
          <p:cNvSpPr/>
          <p:nvPr/>
        </p:nvSpPr>
        <p:spPr>
          <a:xfrm>
            <a:off x="228600" y="987552"/>
            <a:ext cx="8686800" cy="3831335"/>
          </a:xfrm>
          <a:prstGeom prst="rect">
            <a:avLst/>
          </a:prstGeom>
          <a:solidFill>
            <a:srgbClr val="18181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8"/>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8"/>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8"/>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525" name="Google Shape;525;p18"/>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8"/>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8"/>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8"/>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8"/>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530" name="Google Shape;530;p18"/>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18 / 22</a:t>
            </a:r>
            <a:endParaRPr b="0" i="0" sz="700" u="none" cap="none" strike="noStrike">
              <a:solidFill>
                <a:schemeClr val="dk1"/>
              </a:solidFill>
              <a:latin typeface="Calibri"/>
              <a:ea typeface="Calibri"/>
              <a:cs typeface="Calibri"/>
              <a:sym typeface="Calibri"/>
            </a:endParaRPr>
          </a:p>
        </p:txBody>
      </p:sp>
      <p:sp>
        <p:nvSpPr>
          <p:cNvPr id="531" name="Google Shape;531;p18"/>
          <p:cNvSpPr txBox="1"/>
          <p:nvPr/>
        </p:nvSpPr>
        <p:spPr>
          <a:xfrm>
            <a:off x="228600" y="475488"/>
            <a:ext cx="8686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3A5F"/>
                </a:solidFill>
                <a:latin typeface="Arial"/>
                <a:ea typeface="Arial"/>
                <a:cs typeface="Arial"/>
                <a:sym typeface="Arial"/>
              </a:rPr>
              <a:t>Segmentation Results — DeepLabV3+</a:t>
            </a:r>
            <a:endParaRPr b="0" i="0" sz="1400" u="none" cap="none" strike="noStrike">
              <a:solidFill>
                <a:srgbClr val="000000"/>
              </a:solidFill>
              <a:latin typeface="Arial"/>
              <a:ea typeface="Arial"/>
              <a:cs typeface="Arial"/>
              <a:sym typeface="Arial"/>
            </a:endParaRPr>
          </a:p>
        </p:txBody>
      </p:sp>
      <p:sp>
        <p:nvSpPr>
          <p:cNvPr id="532" name="Google Shape;532;p18"/>
          <p:cNvSpPr/>
          <p:nvPr/>
        </p:nvSpPr>
        <p:spPr>
          <a:xfrm>
            <a:off x="228600" y="960120"/>
            <a:ext cx="8686800" cy="274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8"/>
          <p:cNvSpPr/>
          <p:nvPr/>
        </p:nvSpPr>
        <p:spPr>
          <a:xfrm>
            <a:off x="228600"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8"/>
          <p:cNvSpPr txBox="1"/>
          <p:nvPr/>
        </p:nvSpPr>
        <p:spPr>
          <a:xfrm>
            <a:off x="228600"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1e-3</a:t>
            </a:r>
            <a:endParaRPr b="0" i="0" sz="1400" u="none" cap="none" strike="noStrike">
              <a:solidFill>
                <a:srgbClr val="000000"/>
              </a:solidFill>
              <a:latin typeface="Arial"/>
              <a:ea typeface="Arial"/>
              <a:cs typeface="Arial"/>
              <a:sym typeface="Arial"/>
            </a:endParaRPr>
          </a:p>
        </p:txBody>
      </p:sp>
      <p:sp>
        <p:nvSpPr>
          <p:cNvPr id="535" name="Google Shape;535;p18"/>
          <p:cNvSpPr/>
          <p:nvPr/>
        </p:nvSpPr>
        <p:spPr>
          <a:xfrm>
            <a:off x="3182112"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8"/>
          <p:cNvSpPr txBox="1"/>
          <p:nvPr/>
        </p:nvSpPr>
        <p:spPr>
          <a:xfrm>
            <a:off x="3182112"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1e-4</a:t>
            </a:r>
            <a:endParaRPr b="0" i="0" sz="1400" u="none" cap="none" strike="noStrike">
              <a:solidFill>
                <a:srgbClr val="000000"/>
              </a:solidFill>
              <a:latin typeface="Arial"/>
              <a:ea typeface="Arial"/>
              <a:cs typeface="Arial"/>
              <a:sym typeface="Arial"/>
            </a:endParaRPr>
          </a:p>
        </p:txBody>
      </p:sp>
      <p:sp>
        <p:nvSpPr>
          <p:cNvPr id="537" name="Google Shape;537;p18"/>
          <p:cNvSpPr/>
          <p:nvPr/>
        </p:nvSpPr>
        <p:spPr>
          <a:xfrm>
            <a:off x="6135624"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8"/>
          <p:cNvSpPr txBox="1"/>
          <p:nvPr/>
        </p:nvSpPr>
        <p:spPr>
          <a:xfrm>
            <a:off x="6135624"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1e-5</a:t>
            </a:r>
            <a:endParaRPr b="0" i="0" sz="1400" u="none" cap="none" strike="noStrike">
              <a:solidFill>
                <a:srgbClr val="000000"/>
              </a:solidFill>
              <a:latin typeface="Arial"/>
              <a:ea typeface="Arial"/>
              <a:cs typeface="Arial"/>
              <a:sym typeface="Arial"/>
            </a:endParaRPr>
          </a:p>
        </p:txBody>
      </p:sp>
      <p:sp>
        <p:nvSpPr>
          <p:cNvPr id="539" name="Google Shape;539;p18"/>
          <p:cNvSpPr/>
          <p:nvPr/>
        </p:nvSpPr>
        <p:spPr>
          <a:xfrm>
            <a:off x="228600" y="1261872"/>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8"/>
          <p:cNvSpPr txBox="1"/>
          <p:nvPr/>
        </p:nvSpPr>
        <p:spPr>
          <a:xfrm>
            <a:off x="228600" y="1261872"/>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16</a:t>
            </a:r>
            <a:endParaRPr b="0" i="0" sz="1400" u="none" cap="none" strike="noStrike">
              <a:solidFill>
                <a:srgbClr val="000000"/>
              </a:solidFill>
              <a:latin typeface="Arial"/>
              <a:ea typeface="Arial"/>
              <a:cs typeface="Arial"/>
              <a:sym typeface="Arial"/>
            </a:endParaRPr>
          </a:p>
        </p:txBody>
      </p:sp>
      <p:sp>
        <p:nvSpPr>
          <p:cNvPr id="541" name="Google Shape;541;p18"/>
          <p:cNvSpPr/>
          <p:nvPr/>
        </p:nvSpPr>
        <p:spPr>
          <a:xfrm>
            <a:off x="228600" y="3072384"/>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8"/>
          <p:cNvSpPr txBox="1"/>
          <p:nvPr/>
        </p:nvSpPr>
        <p:spPr>
          <a:xfrm>
            <a:off x="228600" y="3072384"/>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17</a:t>
            </a:r>
            <a:endParaRPr b="0" i="0" sz="1400" u="none" cap="none" strike="noStrike">
              <a:solidFill>
                <a:srgbClr val="000000"/>
              </a:solidFill>
              <a:latin typeface="Arial"/>
              <a:ea typeface="Arial"/>
              <a:cs typeface="Arial"/>
              <a:sym typeface="Arial"/>
            </a:endParaRPr>
          </a:p>
        </p:txBody>
      </p:sp>
      <p:pic>
        <p:nvPicPr>
          <p:cNvPr descr="DeepLab-1e-3-16.png" id="543" name="Google Shape;543;p18"/>
          <p:cNvPicPr preferRelativeResize="0"/>
          <p:nvPr/>
        </p:nvPicPr>
        <p:blipFill rotWithShape="1">
          <a:blip r:embed="rId3">
            <a:alphaModFix/>
          </a:blip>
          <a:srcRect b="0" l="0" r="0" t="0"/>
          <a:stretch/>
        </p:blipFill>
        <p:spPr>
          <a:xfrm>
            <a:off x="256032" y="1463040"/>
            <a:ext cx="2633472" cy="1554480"/>
          </a:xfrm>
          <a:prstGeom prst="rect">
            <a:avLst/>
          </a:prstGeom>
          <a:noFill/>
          <a:ln>
            <a:noFill/>
          </a:ln>
        </p:spPr>
      </p:pic>
      <p:pic>
        <p:nvPicPr>
          <p:cNvPr descr="DeepLab-1e-4-16.png" id="544" name="Google Shape;544;p18"/>
          <p:cNvPicPr preferRelativeResize="0"/>
          <p:nvPr/>
        </p:nvPicPr>
        <p:blipFill rotWithShape="1">
          <a:blip r:embed="rId4">
            <a:alphaModFix/>
          </a:blip>
          <a:srcRect b="0" l="0" r="0" t="0"/>
          <a:stretch/>
        </p:blipFill>
        <p:spPr>
          <a:xfrm>
            <a:off x="3209544" y="1463040"/>
            <a:ext cx="2633472" cy="1554480"/>
          </a:xfrm>
          <a:prstGeom prst="rect">
            <a:avLst/>
          </a:prstGeom>
          <a:noFill/>
          <a:ln>
            <a:noFill/>
          </a:ln>
        </p:spPr>
      </p:pic>
      <p:pic>
        <p:nvPicPr>
          <p:cNvPr descr="DeepLab-1e-5-16.png" id="545" name="Google Shape;545;p18"/>
          <p:cNvPicPr preferRelativeResize="0"/>
          <p:nvPr/>
        </p:nvPicPr>
        <p:blipFill rotWithShape="1">
          <a:blip r:embed="rId5">
            <a:alphaModFix/>
          </a:blip>
          <a:srcRect b="0" l="0" r="0" t="0"/>
          <a:stretch/>
        </p:blipFill>
        <p:spPr>
          <a:xfrm>
            <a:off x="6163056" y="1463040"/>
            <a:ext cx="2633472" cy="1554480"/>
          </a:xfrm>
          <a:prstGeom prst="rect">
            <a:avLst/>
          </a:prstGeom>
          <a:noFill/>
          <a:ln>
            <a:noFill/>
          </a:ln>
        </p:spPr>
      </p:pic>
      <p:pic>
        <p:nvPicPr>
          <p:cNvPr descr="DeepLab-1e-3-17.png" id="546" name="Google Shape;546;p18"/>
          <p:cNvPicPr preferRelativeResize="0"/>
          <p:nvPr/>
        </p:nvPicPr>
        <p:blipFill rotWithShape="1">
          <a:blip r:embed="rId6">
            <a:alphaModFix/>
          </a:blip>
          <a:srcRect b="0" l="0" r="0" t="0"/>
          <a:stretch/>
        </p:blipFill>
        <p:spPr>
          <a:xfrm>
            <a:off x="256032" y="3273552"/>
            <a:ext cx="2633472" cy="1554480"/>
          </a:xfrm>
          <a:prstGeom prst="rect">
            <a:avLst/>
          </a:prstGeom>
          <a:noFill/>
          <a:ln>
            <a:noFill/>
          </a:ln>
        </p:spPr>
      </p:pic>
      <p:pic>
        <p:nvPicPr>
          <p:cNvPr descr="DeepLab-1e-4-17.png" id="547" name="Google Shape;547;p18"/>
          <p:cNvPicPr preferRelativeResize="0"/>
          <p:nvPr/>
        </p:nvPicPr>
        <p:blipFill rotWithShape="1">
          <a:blip r:embed="rId7">
            <a:alphaModFix/>
          </a:blip>
          <a:srcRect b="0" l="0" r="0" t="0"/>
          <a:stretch/>
        </p:blipFill>
        <p:spPr>
          <a:xfrm>
            <a:off x="3209544" y="3273552"/>
            <a:ext cx="2633472" cy="1554480"/>
          </a:xfrm>
          <a:prstGeom prst="rect">
            <a:avLst/>
          </a:prstGeom>
          <a:noFill/>
          <a:ln>
            <a:noFill/>
          </a:ln>
        </p:spPr>
      </p:pic>
      <p:pic>
        <p:nvPicPr>
          <p:cNvPr descr="DeepLab-1e-5-17.png" id="548" name="Google Shape;548;p18"/>
          <p:cNvPicPr preferRelativeResize="0"/>
          <p:nvPr/>
        </p:nvPicPr>
        <p:blipFill rotWithShape="1">
          <a:blip r:embed="rId8">
            <a:alphaModFix/>
          </a:blip>
          <a:srcRect b="0" l="0" r="0" t="0"/>
          <a:stretch/>
        </p:blipFill>
        <p:spPr>
          <a:xfrm>
            <a:off x="6163056" y="3273552"/>
            <a:ext cx="2633472" cy="15544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19"/>
          <p:cNvSpPr/>
          <p:nvPr/>
        </p:nvSpPr>
        <p:spPr>
          <a:xfrm>
            <a:off x="228600" y="987552"/>
            <a:ext cx="8686800" cy="3831335"/>
          </a:xfrm>
          <a:prstGeom prst="rect">
            <a:avLst/>
          </a:prstGeom>
          <a:solidFill>
            <a:srgbClr val="18181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9"/>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9"/>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9"/>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557" name="Google Shape;557;p19"/>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9"/>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9"/>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9"/>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9"/>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562" name="Google Shape;562;p19"/>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19 / 22</a:t>
            </a:r>
            <a:endParaRPr b="0" i="0" sz="700" u="none" cap="none" strike="noStrike">
              <a:solidFill>
                <a:schemeClr val="dk1"/>
              </a:solidFill>
              <a:latin typeface="Calibri"/>
              <a:ea typeface="Calibri"/>
              <a:cs typeface="Calibri"/>
              <a:sym typeface="Calibri"/>
            </a:endParaRPr>
          </a:p>
        </p:txBody>
      </p:sp>
      <p:sp>
        <p:nvSpPr>
          <p:cNvPr id="563" name="Google Shape;563;p19"/>
          <p:cNvSpPr txBox="1"/>
          <p:nvPr/>
        </p:nvSpPr>
        <p:spPr>
          <a:xfrm>
            <a:off x="228600" y="475488"/>
            <a:ext cx="8686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3A5F"/>
                </a:solidFill>
                <a:latin typeface="Arial"/>
                <a:ea typeface="Arial"/>
                <a:cs typeface="Arial"/>
                <a:sym typeface="Arial"/>
              </a:rPr>
              <a:t>Segmentation Results — Swin Transformer</a:t>
            </a:r>
            <a:endParaRPr b="0" i="0" sz="1400" u="none" cap="none" strike="noStrike">
              <a:solidFill>
                <a:srgbClr val="000000"/>
              </a:solidFill>
              <a:latin typeface="Arial"/>
              <a:ea typeface="Arial"/>
              <a:cs typeface="Arial"/>
              <a:sym typeface="Arial"/>
            </a:endParaRPr>
          </a:p>
        </p:txBody>
      </p:sp>
      <p:sp>
        <p:nvSpPr>
          <p:cNvPr id="564" name="Google Shape;564;p19"/>
          <p:cNvSpPr/>
          <p:nvPr/>
        </p:nvSpPr>
        <p:spPr>
          <a:xfrm>
            <a:off x="228600" y="960120"/>
            <a:ext cx="8686800" cy="274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9"/>
          <p:cNvSpPr/>
          <p:nvPr/>
        </p:nvSpPr>
        <p:spPr>
          <a:xfrm>
            <a:off x="228600"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9"/>
          <p:cNvSpPr txBox="1"/>
          <p:nvPr/>
        </p:nvSpPr>
        <p:spPr>
          <a:xfrm>
            <a:off x="228600"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1e-3</a:t>
            </a:r>
            <a:endParaRPr b="0" i="0" sz="1400" u="none" cap="none" strike="noStrike">
              <a:solidFill>
                <a:srgbClr val="000000"/>
              </a:solidFill>
              <a:latin typeface="Arial"/>
              <a:ea typeface="Arial"/>
              <a:cs typeface="Arial"/>
              <a:sym typeface="Arial"/>
            </a:endParaRPr>
          </a:p>
        </p:txBody>
      </p:sp>
      <p:sp>
        <p:nvSpPr>
          <p:cNvPr id="567" name="Google Shape;567;p19"/>
          <p:cNvSpPr/>
          <p:nvPr/>
        </p:nvSpPr>
        <p:spPr>
          <a:xfrm>
            <a:off x="3182112"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9"/>
          <p:cNvSpPr txBox="1"/>
          <p:nvPr/>
        </p:nvSpPr>
        <p:spPr>
          <a:xfrm>
            <a:off x="3182112"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1e-4</a:t>
            </a:r>
            <a:endParaRPr b="0" i="0" sz="1400" u="none" cap="none" strike="noStrike">
              <a:solidFill>
                <a:srgbClr val="000000"/>
              </a:solidFill>
              <a:latin typeface="Arial"/>
              <a:ea typeface="Arial"/>
              <a:cs typeface="Arial"/>
              <a:sym typeface="Arial"/>
            </a:endParaRPr>
          </a:p>
        </p:txBody>
      </p:sp>
      <p:sp>
        <p:nvSpPr>
          <p:cNvPr id="569" name="Google Shape;569;p19"/>
          <p:cNvSpPr/>
          <p:nvPr/>
        </p:nvSpPr>
        <p:spPr>
          <a:xfrm>
            <a:off x="6135624" y="987552"/>
            <a:ext cx="2688336" cy="256032"/>
          </a:xfrm>
          <a:prstGeom prst="rect">
            <a:avLst/>
          </a:prstGeom>
          <a:solidFill>
            <a:srgbClr val="1F3A5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9"/>
          <p:cNvSpPr txBox="1"/>
          <p:nvPr/>
        </p:nvSpPr>
        <p:spPr>
          <a:xfrm>
            <a:off x="6135624" y="987552"/>
            <a:ext cx="2688336"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LR = 1e-5</a:t>
            </a:r>
            <a:endParaRPr b="0" i="0" sz="1400" u="none" cap="none" strike="noStrike">
              <a:solidFill>
                <a:srgbClr val="000000"/>
              </a:solidFill>
              <a:latin typeface="Arial"/>
              <a:ea typeface="Arial"/>
              <a:cs typeface="Arial"/>
              <a:sym typeface="Arial"/>
            </a:endParaRPr>
          </a:p>
        </p:txBody>
      </p:sp>
      <p:sp>
        <p:nvSpPr>
          <p:cNvPr id="571" name="Google Shape;571;p19"/>
          <p:cNvSpPr/>
          <p:nvPr/>
        </p:nvSpPr>
        <p:spPr>
          <a:xfrm>
            <a:off x="228600" y="1261872"/>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9"/>
          <p:cNvSpPr txBox="1"/>
          <p:nvPr/>
        </p:nvSpPr>
        <p:spPr>
          <a:xfrm>
            <a:off x="228600" y="1261872"/>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16</a:t>
            </a:r>
            <a:endParaRPr b="0" i="0" sz="1400" u="none" cap="none" strike="noStrike">
              <a:solidFill>
                <a:srgbClr val="000000"/>
              </a:solidFill>
              <a:latin typeface="Arial"/>
              <a:ea typeface="Arial"/>
              <a:cs typeface="Arial"/>
              <a:sym typeface="Arial"/>
            </a:endParaRPr>
          </a:p>
        </p:txBody>
      </p:sp>
      <p:sp>
        <p:nvSpPr>
          <p:cNvPr id="573" name="Google Shape;573;p19"/>
          <p:cNvSpPr/>
          <p:nvPr/>
        </p:nvSpPr>
        <p:spPr>
          <a:xfrm>
            <a:off x="228600" y="3072384"/>
            <a:ext cx="8686800" cy="201168"/>
          </a:xfrm>
          <a:prstGeom prst="rect">
            <a:avLst/>
          </a:prstGeom>
          <a:solidFill>
            <a:srgbClr val="1C5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9"/>
          <p:cNvSpPr txBox="1"/>
          <p:nvPr/>
        </p:nvSpPr>
        <p:spPr>
          <a:xfrm>
            <a:off x="228600" y="3072384"/>
            <a:ext cx="8686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Label 17</a:t>
            </a:r>
            <a:endParaRPr b="0" i="0" sz="1400" u="none" cap="none" strike="noStrike">
              <a:solidFill>
                <a:srgbClr val="000000"/>
              </a:solidFill>
              <a:latin typeface="Arial"/>
              <a:ea typeface="Arial"/>
              <a:cs typeface="Arial"/>
              <a:sym typeface="Arial"/>
            </a:endParaRPr>
          </a:p>
        </p:txBody>
      </p:sp>
      <p:pic>
        <p:nvPicPr>
          <p:cNvPr descr="Swin-1e-3-16.png" id="575" name="Google Shape;575;p19"/>
          <p:cNvPicPr preferRelativeResize="0"/>
          <p:nvPr/>
        </p:nvPicPr>
        <p:blipFill rotWithShape="1">
          <a:blip r:embed="rId3">
            <a:alphaModFix/>
          </a:blip>
          <a:srcRect b="0" l="0" r="0" t="0"/>
          <a:stretch/>
        </p:blipFill>
        <p:spPr>
          <a:xfrm>
            <a:off x="256032" y="1463040"/>
            <a:ext cx="2633472" cy="1554480"/>
          </a:xfrm>
          <a:prstGeom prst="rect">
            <a:avLst/>
          </a:prstGeom>
          <a:noFill/>
          <a:ln>
            <a:noFill/>
          </a:ln>
        </p:spPr>
      </p:pic>
      <p:pic>
        <p:nvPicPr>
          <p:cNvPr descr="Swin-1e-4-16.png" id="576" name="Google Shape;576;p19"/>
          <p:cNvPicPr preferRelativeResize="0"/>
          <p:nvPr/>
        </p:nvPicPr>
        <p:blipFill rotWithShape="1">
          <a:blip r:embed="rId4">
            <a:alphaModFix/>
          </a:blip>
          <a:srcRect b="0" l="0" r="0" t="0"/>
          <a:stretch/>
        </p:blipFill>
        <p:spPr>
          <a:xfrm>
            <a:off x="3209544" y="1463040"/>
            <a:ext cx="2633472" cy="1554480"/>
          </a:xfrm>
          <a:prstGeom prst="rect">
            <a:avLst/>
          </a:prstGeom>
          <a:noFill/>
          <a:ln>
            <a:noFill/>
          </a:ln>
        </p:spPr>
      </p:pic>
      <p:pic>
        <p:nvPicPr>
          <p:cNvPr descr="Swin-1e-5-16.png" id="577" name="Google Shape;577;p19"/>
          <p:cNvPicPr preferRelativeResize="0"/>
          <p:nvPr/>
        </p:nvPicPr>
        <p:blipFill rotWithShape="1">
          <a:blip r:embed="rId5">
            <a:alphaModFix/>
          </a:blip>
          <a:srcRect b="0" l="0" r="0" t="0"/>
          <a:stretch/>
        </p:blipFill>
        <p:spPr>
          <a:xfrm>
            <a:off x="6163056" y="1463040"/>
            <a:ext cx="2633472" cy="1554480"/>
          </a:xfrm>
          <a:prstGeom prst="rect">
            <a:avLst/>
          </a:prstGeom>
          <a:noFill/>
          <a:ln>
            <a:noFill/>
          </a:ln>
        </p:spPr>
      </p:pic>
      <p:pic>
        <p:nvPicPr>
          <p:cNvPr descr="Swin-1e-3-17.png" id="578" name="Google Shape;578;p19"/>
          <p:cNvPicPr preferRelativeResize="0"/>
          <p:nvPr/>
        </p:nvPicPr>
        <p:blipFill rotWithShape="1">
          <a:blip r:embed="rId6">
            <a:alphaModFix/>
          </a:blip>
          <a:srcRect b="0" l="0" r="0" t="0"/>
          <a:stretch/>
        </p:blipFill>
        <p:spPr>
          <a:xfrm>
            <a:off x="256032" y="3273552"/>
            <a:ext cx="2633472" cy="1554480"/>
          </a:xfrm>
          <a:prstGeom prst="rect">
            <a:avLst/>
          </a:prstGeom>
          <a:noFill/>
          <a:ln>
            <a:noFill/>
          </a:ln>
        </p:spPr>
      </p:pic>
      <p:pic>
        <p:nvPicPr>
          <p:cNvPr descr="Swin-1e-4-17.png" id="579" name="Google Shape;579;p19"/>
          <p:cNvPicPr preferRelativeResize="0"/>
          <p:nvPr/>
        </p:nvPicPr>
        <p:blipFill rotWithShape="1">
          <a:blip r:embed="rId7">
            <a:alphaModFix/>
          </a:blip>
          <a:srcRect b="0" l="0" r="0" t="0"/>
          <a:stretch/>
        </p:blipFill>
        <p:spPr>
          <a:xfrm>
            <a:off x="3209544" y="3273552"/>
            <a:ext cx="2633472" cy="1554480"/>
          </a:xfrm>
          <a:prstGeom prst="rect">
            <a:avLst/>
          </a:prstGeom>
          <a:noFill/>
          <a:ln>
            <a:noFill/>
          </a:ln>
        </p:spPr>
      </p:pic>
      <p:pic>
        <p:nvPicPr>
          <p:cNvPr descr="Swin-1e-5-17.png" id="580" name="Google Shape;580;p19"/>
          <p:cNvPicPr preferRelativeResize="0"/>
          <p:nvPr/>
        </p:nvPicPr>
        <p:blipFill rotWithShape="1">
          <a:blip r:embed="rId8">
            <a:alphaModFix/>
          </a:blip>
          <a:srcRect b="0" l="0" r="0" t="0"/>
          <a:stretch/>
        </p:blipFill>
        <p:spPr>
          <a:xfrm>
            <a:off x="6163056" y="3273552"/>
            <a:ext cx="2633472" cy="15544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0"/>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20"/>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0"/>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589" name="Google Shape;589;p20"/>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20"/>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20"/>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0"/>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20"/>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594" name="Google Shape;594;p20"/>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20 / 22</a:t>
            </a:r>
            <a:endParaRPr b="0" i="0" sz="700" u="none" cap="none" strike="noStrike">
              <a:solidFill>
                <a:schemeClr val="dk1"/>
              </a:solidFill>
              <a:latin typeface="Calibri"/>
              <a:ea typeface="Calibri"/>
              <a:cs typeface="Calibri"/>
              <a:sym typeface="Calibri"/>
            </a:endParaRPr>
          </a:p>
        </p:txBody>
      </p:sp>
      <p:sp>
        <p:nvSpPr>
          <p:cNvPr id="595" name="Google Shape;595;p20"/>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Model Comparison Summary</a:t>
            </a:r>
            <a:endParaRPr b="0" i="0" sz="2200" u="none" cap="none" strike="noStrike">
              <a:solidFill>
                <a:schemeClr val="dk1"/>
              </a:solidFill>
              <a:latin typeface="Calibri"/>
              <a:ea typeface="Calibri"/>
              <a:cs typeface="Calibri"/>
              <a:sym typeface="Calibri"/>
            </a:endParaRPr>
          </a:p>
        </p:txBody>
      </p:sp>
      <p:sp>
        <p:nvSpPr>
          <p:cNvPr id="596" name="Google Shape;596;p20"/>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0"/>
          <p:cNvSpPr/>
          <p:nvPr/>
        </p:nvSpPr>
        <p:spPr>
          <a:xfrm>
            <a:off x="228600" y="1170432"/>
            <a:ext cx="2788920" cy="3611880"/>
          </a:xfrm>
          <a:prstGeom prst="rect">
            <a:avLst/>
          </a:prstGeom>
          <a:solidFill>
            <a:srgbClr val="F4F6FB"/>
          </a:solidFill>
          <a:ln cap="flat" cmpd="sng" w="19050">
            <a:solidFill>
              <a:srgbClr val="283593"/>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0"/>
          <p:cNvSpPr/>
          <p:nvPr/>
        </p:nvSpPr>
        <p:spPr>
          <a:xfrm>
            <a:off x="228600" y="1170432"/>
            <a:ext cx="2788920" cy="658368"/>
          </a:xfrm>
          <a:prstGeom prst="rect">
            <a:avLst/>
          </a:prstGeom>
          <a:solidFill>
            <a:srgbClr val="283593"/>
          </a:solidFill>
          <a:ln cap="flat" cmpd="sng" w="12700">
            <a:solidFill>
              <a:srgbClr val="28359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20"/>
          <p:cNvSpPr/>
          <p:nvPr/>
        </p:nvSpPr>
        <p:spPr>
          <a:xfrm>
            <a:off x="228600" y="1170432"/>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U-Net</a:t>
            </a:r>
            <a:endParaRPr b="0" i="0" sz="1500" u="none" cap="none" strike="noStrike">
              <a:solidFill>
                <a:schemeClr val="dk1"/>
              </a:solidFill>
              <a:latin typeface="Calibri"/>
              <a:ea typeface="Calibri"/>
              <a:cs typeface="Calibri"/>
              <a:sym typeface="Calibri"/>
            </a:endParaRPr>
          </a:p>
        </p:txBody>
      </p:sp>
      <p:sp>
        <p:nvSpPr>
          <p:cNvPr id="600" name="Google Shape;600;p20"/>
          <p:cNvSpPr/>
          <p:nvPr/>
        </p:nvSpPr>
        <p:spPr>
          <a:xfrm>
            <a:off x="228600" y="1554480"/>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0" i="1" lang="en-US" sz="950" u="none" cap="none" strike="noStrike">
                <a:solidFill>
                  <a:srgbClr val="FFFFFF"/>
                </a:solidFill>
                <a:latin typeface="Calibri"/>
                <a:ea typeface="Calibri"/>
                <a:cs typeface="Calibri"/>
                <a:sym typeface="Calibri"/>
              </a:rPr>
              <a:t>Rank: 2nd</a:t>
            </a:r>
            <a:endParaRPr b="0" i="0" sz="950" u="none" cap="none" strike="noStrike">
              <a:solidFill>
                <a:schemeClr val="dk1"/>
              </a:solidFill>
              <a:latin typeface="Calibri"/>
              <a:ea typeface="Calibri"/>
              <a:cs typeface="Calibri"/>
              <a:sym typeface="Calibri"/>
            </a:endParaRPr>
          </a:p>
        </p:txBody>
      </p:sp>
      <p:sp>
        <p:nvSpPr>
          <p:cNvPr id="601" name="Google Shape;601;p20"/>
          <p:cNvSpPr/>
          <p:nvPr/>
        </p:nvSpPr>
        <p:spPr>
          <a:xfrm>
            <a:off x="301752" y="1920240"/>
            <a:ext cx="2651760" cy="237744"/>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0"/>
          <p:cNvSpPr/>
          <p:nvPr/>
        </p:nvSpPr>
        <p:spPr>
          <a:xfrm>
            <a:off x="320040" y="1920240"/>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800"/>
              <a:buFont typeface="Calibri"/>
              <a:buNone/>
            </a:pPr>
            <a:r>
              <a:rPr b="1" i="0" lang="en-US" sz="800" u="none" cap="none" strike="noStrike">
                <a:solidFill>
                  <a:srgbClr val="2E7D32"/>
                </a:solidFill>
                <a:latin typeface="Calibri"/>
                <a:ea typeface="Calibri"/>
                <a:cs typeface="Calibri"/>
                <a:sym typeface="Calibri"/>
              </a:rPr>
              <a:t>STRENGTHS</a:t>
            </a:r>
            <a:endParaRPr b="0" i="0" sz="800" u="none" cap="none" strike="noStrike">
              <a:solidFill>
                <a:schemeClr val="dk1"/>
              </a:solidFill>
              <a:latin typeface="Calibri"/>
              <a:ea typeface="Calibri"/>
              <a:cs typeface="Calibri"/>
              <a:sym typeface="Calibri"/>
            </a:endParaRPr>
          </a:p>
        </p:txBody>
      </p:sp>
      <p:sp>
        <p:nvSpPr>
          <p:cNvPr id="603" name="Google Shape;603;p20"/>
          <p:cNvSpPr/>
          <p:nvPr/>
        </p:nvSpPr>
        <p:spPr>
          <a:xfrm>
            <a:off x="320040" y="217627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Simple &amp; stable architecture</a:t>
            </a:r>
            <a:endParaRPr b="0" i="0" sz="900" u="none" cap="none" strike="noStrike">
              <a:solidFill>
                <a:schemeClr val="dk1"/>
              </a:solidFill>
              <a:latin typeface="Calibri"/>
              <a:ea typeface="Calibri"/>
              <a:cs typeface="Calibri"/>
              <a:sym typeface="Calibri"/>
            </a:endParaRPr>
          </a:p>
        </p:txBody>
      </p:sp>
      <p:sp>
        <p:nvSpPr>
          <p:cNvPr id="604" name="Google Shape;604;p20"/>
          <p:cNvSpPr/>
          <p:nvPr/>
        </p:nvSpPr>
        <p:spPr>
          <a:xfrm>
            <a:off x="320040" y="245059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Good boundary detection</a:t>
            </a:r>
            <a:endParaRPr b="0" i="0" sz="900" u="none" cap="none" strike="noStrike">
              <a:solidFill>
                <a:schemeClr val="dk1"/>
              </a:solidFill>
              <a:latin typeface="Calibri"/>
              <a:ea typeface="Calibri"/>
              <a:cs typeface="Calibri"/>
              <a:sym typeface="Calibri"/>
            </a:endParaRPr>
          </a:p>
        </p:txBody>
      </p:sp>
      <p:sp>
        <p:nvSpPr>
          <p:cNvPr id="605" name="Google Shape;605;p20"/>
          <p:cNvSpPr/>
          <p:nvPr/>
        </p:nvSpPr>
        <p:spPr>
          <a:xfrm>
            <a:off x="320040" y="272491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Effective with small datasets</a:t>
            </a:r>
            <a:endParaRPr b="0" i="0" sz="900" u="none" cap="none" strike="noStrike">
              <a:solidFill>
                <a:schemeClr val="dk1"/>
              </a:solidFill>
              <a:latin typeface="Calibri"/>
              <a:ea typeface="Calibri"/>
              <a:cs typeface="Calibri"/>
              <a:sym typeface="Calibri"/>
            </a:endParaRPr>
          </a:p>
        </p:txBody>
      </p:sp>
      <p:sp>
        <p:nvSpPr>
          <p:cNvPr id="606" name="Google Shape;606;p20"/>
          <p:cNvSpPr/>
          <p:nvPr/>
        </p:nvSpPr>
        <p:spPr>
          <a:xfrm>
            <a:off x="320040" y="299923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Strong training baseline</a:t>
            </a:r>
            <a:endParaRPr b="0" i="0" sz="900" u="none" cap="none" strike="noStrike">
              <a:solidFill>
                <a:schemeClr val="dk1"/>
              </a:solidFill>
              <a:latin typeface="Calibri"/>
              <a:ea typeface="Calibri"/>
              <a:cs typeface="Calibri"/>
              <a:sym typeface="Calibri"/>
            </a:endParaRPr>
          </a:p>
        </p:txBody>
      </p:sp>
      <p:sp>
        <p:nvSpPr>
          <p:cNvPr id="607" name="Google Shape;607;p20"/>
          <p:cNvSpPr/>
          <p:nvPr/>
        </p:nvSpPr>
        <p:spPr>
          <a:xfrm>
            <a:off x="301752" y="3364992"/>
            <a:ext cx="2651760" cy="237744"/>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0"/>
          <p:cNvSpPr/>
          <p:nvPr/>
        </p:nvSpPr>
        <p:spPr>
          <a:xfrm>
            <a:off x="320040" y="3364992"/>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62828"/>
              </a:buClr>
              <a:buSzPts val="800"/>
              <a:buFont typeface="Calibri"/>
              <a:buNone/>
            </a:pPr>
            <a:r>
              <a:rPr b="1" i="0" lang="en-US" sz="800" u="none" cap="none" strike="noStrike">
                <a:solidFill>
                  <a:srgbClr val="C62828"/>
                </a:solidFill>
                <a:latin typeface="Calibri"/>
                <a:ea typeface="Calibri"/>
                <a:cs typeface="Calibri"/>
                <a:sym typeface="Calibri"/>
              </a:rPr>
              <a:t>LIMITATIONS</a:t>
            </a:r>
            <a:endParaRPr b="0" i="0" sz="800" u="none" cap="none" strike="noStrike">
              <a:solidFill>
                <a:schemeClr val="dk1"/>
              </a:solidFill>
              <a:latin typeface="Calibri"/>
              <a:ea typeface="Calibri"/>
              <a:cs typeface="Calibri"/>
              <a:sym typeface="Calibri"/>
            </a:endParaRPr>
          </a:p>
        </p:txBody>
      </p:sp>
      <p:sp>
        <p:nvSpPr>
          <p:cNvPr id="609" name="Google Shape;609;p20"/>
          <p:cNvSpPr/>
          <p:nvPr/>
        </p:nvSpPr>
        <p:spPr>
          <a:xfrm>
            <a:off x="320040" y="362102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Limited global context capture</a:t>
            </a:r>
            <a:endParaRPr b="0" i="0" sz="900" u="none" cap="none" strike="noStrike">
              <a:solidFill>
                <a:schemeClr val="dk1"/>
              </a:solidFill>
              <a:latin typeface="Calibri"/>
              <a:ea typeface="Calibri"/>
              <a:cs typeface="Calibri"/>
              <a:sym typeface="Calibri"/>
            </a:endParaRPr>
          </a:p>
        </p:txBody>
      </p:sp>
      <p:sp>
        <p:nvSpPr>
          <p:cNvPr id="610" name="Google Shape;610;p20"/>
          <p:cNvSpPr/>
          <p:nvPr/>
        </p:nvSpPr>
        <p:spPr>
          <a:xfrm>
            <a:off x="320040" y="389534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Slight boundary inaccuracies</a:t>
            </a:r>
            <a:endParaRPr b="0" i="0" sz="900" u="none" cap="none" strike="noStrike">
              <a:solidFill>
                <a:schemeClr val="dk1"/>
              </a:solidFill>
              <a:latin typeface="Calibri"/>
              <a:ea typeface="Calibri"/>
              <a:cs typeface="Calibri"/>
              <a:sym typeface="Calibri"/>
            </a:endParaRPr>
          </a:p>
        </p:txBody>
      </p:sp>
      <p:sp>
        <p:nvSpPr>
          <p:cNvPr id="611" name="Google Shape;611;p20"/>
          <p:cNvSpPr/>
          <p:nvPr/>
        </p:nvSpPr>
        <p:spPr>
          <a:xfrm>
            <a:off x="3200400" y="1170432"/>
            <a:ext cx="2788920" cy="3611880"/>
          </a:xfrm>
          <a:prstGeom prst="rect">
            <a:avLst/>
          </a:prstGeom>
          <a:solidFill>
            <a:srgbClr val="F4F6FB"/>
          </a:solidFill>
          <a:ln cap="flat" cmpd="sng" w="19050">
            <a:solidFill>
              <a:srgbClr val="00838F"/>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20"/>
          <p:cNvSpPr/>
          <p:nvPr/>
        </p:nvSpPr>
        <p:spPr>
          <a:xfrm>
            <a:off x="3200400" y="1170432"/>
            <a:ext cx="2788920" cy="65836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0"/>
          <p:cNvSpPr/>
          <p:nvPr/>
        </p:nvSpPr>
        <p:spPr>
          <a:xfrm>
            <a:off x="3200400" y="1170432"/>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DeepLab V3+</a:t>
            </a:r>
            <a:endParaRPr b="0" i="0" sz="1500" u="none" cap="none" strike="noStrike">
              <a:solidFill>
                <a:schemeClr val="dk1"/>
              </a:solidFill>
              <a:latin typeface="Calibri"/>
              <a:ea typeface="Calibri"/>
              <a:cs typeface="Calibri"/>
              <a:sym typeface="Calibri"/>
            </a:endParaRPr>
          </a:p>
        </p:txBody>
      </p:sp>
      <p:sp>
        <p:nvSpPr>
          <p:cNvPr id="614" name="Google Shape;614;p20"/>
          <p:cNvSpPr/>
          <p:nvPr/>
        </p:nvSpPr>
        <p:spPr>
          <a:xfrm>
            <a:off x="3200400" y="1554480"/>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0" i="1" lang="en-US" sz="950" u="none" cap="none" strike="noStrike">
                <a:solidFill>
                  <a:srgbClr val="FFFFFF"/>
                </a:solidFill>
                <a:latin typeface="Calibri"/>
                <a:ea typeface="Calibri"/>
                <a:cs typeface="Calibri"/>
                <a:sym typeface="Calibri"/>
              </a:rPr>
              <a:t>Rank: 1st ★</a:t>
            </a:r>
            <a:endParaRPr b="0" i="0" sz="950" u="none" cap="none" strike="noStrike">
              <a:solidFill>
                <a:schemeClr val="dk1"/>
              </a:solidFill>
              <a:latin typeface="Calibri"/>
              <a:ea typeface="Calibri"/>
              <a:cs typeface="Calibri"/>
              <a:sym typeface="Calibri"/>
            </a:endParaRPr>
          </a:p>
        </p:txBody>
      </p:sp>
      <p:sp>
        <p:nvSpPr>
          <p:cNvPr id="615" name="Google Shape;615;p20"/>
          <p:cNvSpPr/>
          <p:nvPr/>
        </p:nvSpPr>
        <p:spPr>
          <a:xfrm>
            <a:off x="3273552" y="1920240"/>
            <a:ext cx="2651760" cy="237744"/>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0"/>
          <p:cNvSpPr/>
          <p:nvPr/>
        </p:nvSpPr>
        <p:spPr>
          <a:xfrm>
            <a:off x="3291840" y="1920240"/>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800"/>
              <a:buFont typeface="Calibri"/>
              <a:buNone/>
            </a:pPr>
            <a:r>
              <a:rPr b="1" i="0" lang="en-US" sz="800" u="none" cap="none" strike="noStrike">
                <a:solidFill>
                  <a:srgbClr val="2E7D32"/>
                </a:solidFill>
                <a:latin typeface="Calibri"/>
                <a:ea typeface="Calibri"/>
                <a:cs typeface="Calibri"/>
                <a:sym typeface="Calibri"/>
              </a:rPr>
              <a:t>STRENGTHS</a:t>
            </a:r>
            <a:endParaRPr b="0" i="0" sz="800" u="none" cap="none" strike="noStrike">
              <a:solidFill>
                <a:schemeClr val="dk1"/>
              </a:solidFill>
              <a:latin typeface="Calibri"/>
              <a:ea typeface="Calibri"/>
              <a:cs typeface="Calibri"/>
              <a:sym typeface="Calibri"/>
            </a:endParaRPr>
          </a:p>
        </p:txBody>
      </p:sp>
      <p:sp>
        <p:nvSpPr>
          <p:cNvPr id="617" name="Google Shape;617;p20"/>
          <p:cNvSpPr/>
          <p:nvPr/>
        </p:nvSpPr>
        <p:spPr>
          <a:xfrm>
            <a:off x="3291840" y="217627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Lowest training &amp; validation loss</a:t>
            </a:r>
            <a:endParaRPr b="0" i="0" sz="900" u="none" cap="none" strike="noStrike">
              <a:solidFill>
                <a:schemeClr val="dk1"/>
              </a:solidFill>
              <a:latin typeface="Calibri"/>
              <a:ea typeface="Calibri"/>
              <a:cs typeface="Calibri"/>
              <a:sym typeface="Calibri"/>
            </a:endParaRPr>
          </a:p>
        </p:txBody>
      </p:sp>
      <p:sp>
        <p:nvSpPr>
          <p:cNvPr id="618" name="Google Shape;618;p20"/>
          <p:cNvSpPr/>
          <p:nvPr/>
        </p:nvSpPr>
        <p:spPr>
          <a:xfrm>
            <a:off x="3291840" y="245059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Highest IoU score</a:t>
            </a:r>
            <a:endParaRPr b="0" i="0" sz="900" u="none" cap="none" strike="noStrike">
              <a:solidFill>
                <a:schemeClr val="dk1"/>
              </a:solidFill>
              <a:latin typeface="Calibri"/>
              <a:ea typeface="Calibri"/>
              <a:cs typeface="Calibri"/>
              <a:sym typeface="Calibri"/>
            </a:endParaRPr>
          </a:p>
        </p:txBody>
      </p:sp>
      <p:sp>
        <p:nvSpPr>
          <p:cNvPr id="619" name="Google Shape;619;p20"/>
          <p:cNvSpPr/>
          <p:nvPr/>
        </p:nvSpPr>
        <p:spPr>
          <a:xfrm>
            <a:off x="3291840" y="272491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Strong multi-scale feature extraction</a:t>
            </a:r>
            <a:endParaRPr b="0" i="0" sz="900" u="none" cap="none" strike="noStrike">
              <a:solidFill>
                <a:schemeClr val="dk1"/>
              </a:solidFill>
              <a:latin typeface="Calibri"/>
              <a:ea typeface="Calibri"/>
              <a:cs typeface="Calibri"/>
              <a:sym typeface="Calibri"/>
            </a:endParaRPr>
          </a:p>
        </p:txBody>
      </p:sp>
      <p:sp>
        <p:nvSpPr>
          <p:cNvPr id="620" name="Google Shape;620;p20"/>
          <p:cNvSpPr/>
          <p:nvPr/>
        </p:nvSpPr>
        <p:spPr>
          <a:xfrm>
            <a:off x="3291840" y="299923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Better boundary refinement</a:t>
            </a:r>
            <a:endParaRPr b="0" i="0" sz="900" u="none" cap="none" strike="noStrike">
              <a:solidFill>
                <a:schemeClr val="dk1"/>
              </a:solidFill>
              <a:latin typeface="Calibri"/>
              <a:ea typeface="Calibri"/>
              <a:cs typeface="Calibri"/>
              <a:sym typeface="Calibri"/>
            </a:endParaRPr>
          </a:p>
        </p:txBody>
      </p:sp>
      <p:sp>
        <p:nvSpPr>
          <p:cNvPr id="621" name="Google Shape;621;p20"/>
          <p:cNvSpPr/>
          <p:nvPr/>
        </p:nvSpPr>
        <p:spPr>
          <a:xfrm>
            <a:off x="3273552" y="3364992"/>
            <a:ext cx="2651760" cy="237744"/>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20"/>
          <p:cNvSpPr/>
          <p:nvPr/>
        </p:nvSpPr>
        <p:spPr>
          <a:xfrm>
            <a:off x="3291840" y="3364992"/>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62828"/>
              </a:buClr>
              <a:buSzPts val="800"/>
              <a:buFont typeface="Calibri"/>
              <a:buNone/>
            </a:pPr>
            <a:r>
              <a:rPr b="1" i="0" lang="en-US" sz="800" u="none" cap="none" strike="noStrike">
                <a:solidFill>
                  <a:srgbClr val="C62828"/>
                </a:solidFill>
                <a:latin typeface="Calibri"/>
                <a:ea typeface="Calibri"/>
                <a:cs typeface="Calibri"/>
                <a:sym typeface="Calibri"/>
              </a:rPr>
              <a:t>LIMITATIONS</a:t>
            </a:r>
            <a:endParaRPr b="0" i="0" sz="800" u="none" cap="none" strike="noStrike">
              <a:solidFill>
                <a:schemeClr val="dk1"/>
              </a:solidFill>
              <a:latin typeface="Calibri"/>
              <a:ea typeface="Calibri"/>
              <a:cs typeface="Calibri"/>
              <a:sym typeface="Calibri"/>
            </a:endParaRPr>
          </a:p>
        </p:txBody>
      </p:sp>
      <p:sp>
        <p:nvSpPr>
          <p:cNvPr id="623" name="Google Shape;623;p20"/>
          <p:cNvSpPr/>
          <p:nvPr/>
        </p:nvSpPr>
        <p:spPr>
          <a:xfrm>
            <a:off x="3291840" y="362102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Higher computational complexity</a:t>
            </a:r>
            <a:endParaRPr b="0" i="0" sz="900" u="none" cap="none" strike="noStrike">
              <a:solidFill>
                <a:schemeClr val="dk1"/>
              </a:solidFill>
              <a:latin typeface="Calibri"/>
              <a:ea typeface="Calibri"/>
              <a:cs typeface="Calibri"/>
              <a:sym typeface="Calibri"/>
            </a:endParaRPr>
          </a:p>
        </p:txBody>
      </p:sp>
      <p:sp>
        <p:nvSpPr>
          <p:cNvPr id="624" name="Google Shape;624;p20"/>
          <p:cNvSpPr/>
          <p:nvPr/>
        </p:nvSpPr>
        <p:spPr>
          <a:xfrm>
            <a:off x="6172200" y="1170432"/>
            <a:ext cx="2788920" cy="3611880"/>
          </a:xfrm>
          <a:prstGeom prst="rect">
            <a:avLst/>
          </a:prstGeom>
          <a:solidFill>
            <a:srgbClr val="F4F6FB"/>
          </a:solidFill>
          <a:ln cap="flat" cmpd="sng" w="19050">
            <a:solidFill>
              <a:srgbClr val="6A1B9A"/>
            </a:solidFill>
            <a:prstDash val="solid"/>
            <a:round/>
            <a:headEnd len="sm" w="sm" type="none"/>
            <a:tailEnd len="sm" w="sm" type="none"/>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0"/>
          <p:cNvSpPr/>
          <p:nvPr/>
        </p:nvSpPr>
        <p:spPr>
          <a:xfrm>
            <a:off x="6172200" y="1170432"/>
            <a:ext cx="2788920" cy="658368"/>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20"/>
          <p:cNvSpPr/>
          <p:nvPr/>
        </p:nvSpPr>
        <p:spPr>
          <a:xfrm>
            <a:off x="6172200" y="1170432"/>
            <a:ext cx="278892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Swin Transformer</a:t>
            </a:r>
            <a:endParaRPr b="0" i="0" sz="1500" u="none" cap="none" strike="noStrike">
              <a:solidFill>
                <a:schemeClr val="dk1"/>
              </a:solidFill>
              <a:latin typeface="Calibri"/>
              <a:ea typeface="Calibri"/>
              <a:cs typeface="Calibri"/>
              <a:sym typeface="Calibri"/>
            </a:endParaRPr>
          </a:p>
        </p:txBody>
      </p:sp>
      <p:sp>
        <p:nvSpPr>
          <p:cNvPr id="627" name="Google Shape;627;p20"/>
          <p:cNvSpPr/>
          <p:nvPr/>
        </p:nvSpPr>
        <p:spPr>
          <a:xfrm>
            <a:off x="6172200" y="1554480"/>
            <a:ext cx="2788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0" i="1" lang="en-US" sz="950" u="none" cap="none" strike="noStrike">
                <a:solidFill>
                  <a:srgbClr val="FFFFFF"/>
                </a:solidFill>
                <a:latin typeface="Calibri"/>
                <a:ea typeface="Calibri"/>
                <a:cs typeface="Calibri"/>
                <a:sym typeface="Calibri"/>
              </a:rPr>
              <a:t>Rank: 3rd</a:t>
            </a:r>
            <a:endParaRPr b="0" i="0" sz="950" u="none" cap="none" strike="noStrike">
              <a:solidFill>
                <a:schemeClr val="dk1"/>
              </a:solidFill>
              <a:latin typeface="Calibri"/>
              <a:ea typeface="Calibri"/>
              <a:cs typeface="Calibri"/>
              <a:sym typeface="Calibri"/>
            </a:endParaRPr>
          </a:p>
        </p:txBody>
      </p:sp>
      <p:sp>
        <p:nvSpPr>
          <p:cNvPr id="628" name="Google Shape;628;p20"/>
          <p:cNvSpPr/>
          <p:nvPr/>
        </p:nvSpPr>
        <p:spPr>
          <a:xfrm>
            <a:off x="6245352" y="1920240"/>
            <a:ext cx="2651760" cy="237744"/>
          </a:xfrm>
          <a:prstGeom prst="rect">
            <a:avLst/>
          </a:prstGeom>
          <a:solidFill>
            <a:srgbClr val="E8F5E9"/>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20"/>
          <p:cNvSpPr/>
          <p:nvPr/>
        </p:nvSpPr>
        <p:spPr>
          <a:xfrm>
            <a:off x="6263640" y="1920240"/>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800"/>
              <a:buFont typeface="Calibri"/>
              <a:buNone/>
            </a:pPr>
            <a:r>
              <a:rPr b="1" i="0" lang="en-US" sz="800" u="none" cap="none" strike="noStrike">
                <a:solidFill>
                  <a:srgbClr val="2E7D32"/>
                </a:solidFill>
                <a:latin typeface="Calibri"/>
                <a:ea typeface="Calibri"/>
                <a:cs typeface="Calibri"/>
                <a:sym typeface="Calibri"/>
              </a:rPr>
              <a:t>STRENGTHS</a:t>
            </a:r>
            <a:endParaRPr b="0" i="0" sz="800" u="none" cap="none" strike="noStrike">
              <a:solidFill>
                <a:schemeClr val="dk1"/>
              </a:solidFill>
              <a:latin typeface="Calibri"/>
              <a:ea typeface="Calibri"/>
              <a:cs typeface="Calibri"/>
              <a:sym typeface="Calibri"/>
            </a:endParaRPr>
          </a:p>
        </p:txBody>
      </p:sp>
      <p:sp>
        <p:nvSpPr>
          <p:cNvPr id="630" name="Google Shape;630;p20"/>
          <p:cNvSpPr/>
          <p:nvPr/>
        </p:nvSpPr>
        <p:spPr>
          <a:xfrm>
            <a:off x="6263640" y="217627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Captures long-range dependencies</a:t>
            </a:r>
            <a:endParaRPr b="0" i="0" sz="900" u="none" cap="none" strike="noStrike">
              <a:solidFill>
                <a:schemeClr val="dk1"/>
              </a:solidFill>
              <a:latin typeface="Calibri"/>
              <a:ea typeface="Calibri"/>
              <a:cs typeface="Calibri"/>
              <a:sym typeface="Calibri"/>
            </a:endParaRPr>
          </a:p>
        </p:txBody>
      </p:sp>
      <p:sp>
        <p:nvSpPr>
          <p:cNvPr id="631" name="Google Shape;631;p20"/>
          <p:cNvSpPr/>
          <p:nvPr/>
        </p:nvSpPr>
        <p:spPr>
          <a:xfrm>
            <a:off x="6263640" y="245059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Powerful global context</a:t>
            </a:r>
            <a:endParaRPr b="0" i="0" sz="900" u="none" cap="none" strike="noStrike">
              <a:solidFill>
                <a:schemeClr val="dk1"/>
              </a:solidFill>
              <a:latin typeface="Calibri"/>
              <a:ea typeface="Calibri"/>
              <a:cs typeface="Calibri"/>
              <a:sym typeface="Calibri"/>
            </a:endParaRPr>
          </a:p>
        </p:txBody>
      </p:sp>
      <p:sp>
        <p:nvSpPr>
          <p:cNvPr id="632" name="Google Shape;632;p20"/>
          <p:cNvSpPr/>
          <p:nvPr/>
        </p:nvSpPr>
        <p:spPr>
          <a:xfrm>
            <a:off x="6263640" y="2724912"/>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Effective for complex scenes</a:t>
            </a:r>
            <a:endParaRPr b="0" i="0" sz="900" u="none" cap="none" strike="noStrike">
              <a:solidFill>
                <a:schemeClr val="dk1"/>
              </a:solidFill>
              <a:latin typeface="Calibri"/>
              <a:ea typeface="Calibri"/>
              <a:cs typeface="Calibri"/>
              <a:sym typeface="Calibri"/>
            </a:endParaRPr>
          </a:p>
        </p:txBody>
      </p:sp>
      <p:sp>
        <p:nvSpPr>
          <p:cNvPr id="633" name="Google Shape;633;p20"/>
          <p:cNvSpPr/>
          <p:nvPr/>
        </p:nvSpPr>
        <p:spPr>
          <a:xfrm>
            <a:off x="6245352" y="3090672"/>
            <a:ext cx="2651760" cy="237744"/>
          </a:xfrm>
          <a:prstGeom prst="rect">
            <a:avLst/>
          </a:prstGeom>
          <a:solidFill>
            <a:srgbClr val="FFEBEE"/>
          </a:solidFill>
          <a:ln cap="flat" cmpd="sng" w="1270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0"/>
          <p:cNvSpPr/>
          <p:nvPr/>
        </p:nvSpPr>
        <p:spPr>
          <a:xfrm>
            <a:off x="6263640" y="3090672"/>
            <a:ext cx="263347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62828"/>
              </a:buClr>
              <a:buSzPts val="800"/>
              <a:buFont typeface="Calibri"/>
              <a:buNone/>
            </a:pPr>
            <a:r>
              <a:rPr b="1" i="0" lang="en-US" sz="800" u="none" cap="none" strike="noStrike">
                <a:solidFill>
                  <a:srgbClr val="C62828"/>
                </a:solidFill>
                <a:latin typeface="Calibri"/>
                <a:ea typeface="Calibri"/>
                <a:cs typeface="Calibri"/>
                <a:sym typeface="Calibri"/>
              </a:rPr>
              <a:t>LIMITATIONS</a:t>
            </a:r>
            <a:endParaRPr b="0" i="0" sz="800" u="none" cap="none" strike="noStrike">
              <a:solidFill>
                <a:schemeClr val="dk1"/>
              </a:solidFill>
              <a:latin typeface="Calibri"/>
              <a:ea typeface="Calibri"/>
              <a:cs typeface="Calibri"/>
              <a:sym typeface="Calibri"/>
            </a:endParaRPr>
          </a:p>
        </p:txBody>
      </p:sp>
      <p:sp>
        <p:nvSpPr>
          <p:cNvPr id="635" name="Google Shape;635;p20"/>
          <p:cNvSpPr/>
          <p:nvPr/>
        </p:nvSpPr>
        <p:spPr>
          <a:xfrm>
            <a:off x="6263640" y="334670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Lower IoU under current setup</a:t>
            </a:r>
            <a:endParaRPr b="0" i="0" sz="900" u="none" cap="none" strike="noStrike">
              <a:solidFill>
                <a:schemeClr val="dk1"/>
              </a:solidFill>
              <a:latin typeface="Calibri"/>
              <a:ea typeface="Calibri"/>
              <a:cs typeface="Calibri"/>
              <a:sym typeface="Calibri"/>
            </a:endParaRPr>
          </a:p>
        </p:txBody>
      </p:sp>
      <p:sp>
        <p:nvSpPr>
          <p:cNvPr id="636" name="Google Shape;636;p20"/>
          <p:cNvSpPr/>
          <p:nvPr/>
        </p:nvSpPr>
        <p:spPr>
          <a:xfrm>
            <a:off x="6263640" y="362102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Needs more data &amp; compute</a:t>
            </a:r>
            <a:endParaRPr b="0" i="0" sz="900" u="none" cap="none" strike="noStrike">
              <a:solidFill>
                <a:schemeClr val="dk1"/>
              </a:solidFill>
              <a:latin typeface="Calibri"/>
              <a:ea typeface="Calibri"/>
              <a:cs typeface="Calibri"/>
              <a:sym typeface="Calibri"/>
            </a:endParaRPr>
          </a:p>
        </p:txBody>
      </p:sp>
      <p:sp>
        <p:nvSpPr>
          <p:cNvPr id="637" name="Google Shape;637;p20"/>
          <p:cNvSpPr/>
          <p:nvPr/>
        </p:nvSpPr>
        <p:spPr>
          <a:xfrm>
            <a:off x="6263640" y="3895344"/>
            <a:ext cx="2606040" cy="256032"/>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212121"/>
              </a:buClr>
              <a:buSzPts val="900"/>
              <a:buFont typeface="Calibri"/>
              <a:buChar char="•"/>
            </a:pPr>
            <a:r>
              <a:rPr b="0" i="0" lang="en-US" sz="900" u="none" cap="none" strike="noStrike">
                <a:solidFill>
                  <a:srgbClr val="212121"/>
                </a:solidFill>
                <a:latin typeface="Calibri"/>
                <a:ea typeface="Calibri"/>
                <a:cs typeface="Calibri"/>
                <a:sym typeface="Calibri"/>
              </a:rPr>
              <a:t>Requires tuning for small datasets</a:t>
            </a:r>
            <a:endParaRPr b="0" i="0" sz="900" u="none" cap="none" strike="noStrike">
              <a:solidFill>
                <a:schemeClr val="dk1"/>
              </a:solidFill>
              <a:latin typeface="Calibri"/>
              <a:ea typeface="Calibri"/>
              <a:cs typeface="Calibri"/>
              <a:sym typeface="Calibri"/>
            </a:endParaRPr>
          </a:p>
        </p:txBody>
      </p:sp>
      <p:sp>
        <p:nvSpPr>
          <p:cNvPr id="638" name="Google Shape;638;p20"/>
          <p:cNvSpPr/>
          <p:nvPr/>
        </p:nvSpPr>
        <p:spPr>
          <a:xfrm>
            <a:off x="274325" y="4709152"/>
            <a:ext cx="8595300" cy="297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83593"/>
              </a:buClr>
              <a:buSzPts val="900"/>
              <a:buFont typeface="Calibri"/>
              <a:buNone/>
            </a:pPr>
            <a:r>
              <a:rPr b="0" i="1" lang="en-US" sz="1000" u="none" cap="none" strike="noStrike">
                <a:solidFill>
                  <a:srgbClr val="283593"/>
                </a:solidFill>
                <a:latin typeface="Calibri"/>
                <a:ea typeface="Calibri"/>
                <a:cs typeface="Calibri"/>
                <a:sym typeface="Calibri"/>
              </a:rPr>
              <a:t>: IoU provides the most meaningful comparison — DeepLabV3+ clearly outperforms on generalization despite similar accuracy.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21"/>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21"/>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21"/>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647" name="Google Shape;647;p21"/>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1"/>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21"/>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21"/>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21"/>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652" name="Google Shape;652;p21"/>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21 / 22</a:t>
            </a:r>
            <a:endParaRPr b="0" i="0" sz="700" u="none" cap="none" strike="noStrike">
              <a:solidFill>
                <a:schemeClr val="dk1"/>
              </a:solidFill>
              <a:latin typeface="Calibri"/>
              <a:ea typeface="Calibri"/>
              <a:cs typeface="Calibri"/>
              <a:sym typeface="Calibri"/>
            </a:endParaRPr>
          </a:p>
        </p:txBody>
      </p:sp>
      <p:sp>
        <p:nvSpPr>
          <p:cNvPr id="653" name="Google Shape;653;p21"/>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Conclusion</a:t>
            </a:r>
            <a:endParaRPr b="0" i="0" sz="2200" u="none" cap="none" strike="noStrike">
              <a:solidFill>
                <a:schemeClr val="dk1"/>
              </a:solidFill>
              <a:latin typeface="Calibri"/>
              <a:ea typeface="Calibri"/>
              <a:cs typeface="Calibri"/>
              <a:sym typeface="Calibri"/>
            </a:endParaRPr>
          </a:p>
        </p:txBody>
      </p:sp>
      <p:sp>
        <p:nvSpPr>
          <p:cNvPr id="654" name="Google Shape;654;p21"/>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1"/>
          <p:cNvSpPr/>
          <p:nvPr/>
        </p:nvSpPr>
        <p:spPr>
          <a:xfrm>
            <a:off x="274320" y="1188720"/>
            <a:ext cx="502920" cy="5029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21"/>
          <p:cNvSpPr/>
          <p:nvPr/>
        </p:nvSpPr>
        <p:spPr>
          <a:xfrm>
            <a:off x="274320" y="118872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57" name="Google Shape;657;p21"/>
          <p:cNvSpPr/>
          <p:nvPr/>
        </p:nvSpPr>
        <p:spPr>
          <a:xfrm>
            <a:off x="274320" y="1691640"/>
            <a:ext cx="502920" cy="20116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1"/>
          <p:cNvSpPr/>
          <p:nvPr/>
        </p:nvSpPr>
        <p:spPr>
          <a:xfrm>
            <a:off x="914400" y="1216152"/>
            <a:ext cx="78638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Automated Segmentation Achieved</a:t>
            </a:r>
            <a:endParaRPr b="0" i="0" sz="1200" u="none" cap="none" strike="noStrike">
              <a:solidFill>
                <a:schemeClr val="dk1"/>
              </a:solidFill>
              <a:latin typeface="Calibri"/>
              <a:ea typeface="Calibri"/>
              <a:cs typeface="Calibri"/>
              <a:sym typeface="Calibri"/>
            </a:endParaRPr>
          </a:p>
        </p:txBody>
      </p:sp>
      <p:sp>
        <p:nvSpPr>
          <p:cNvPr id="659" name="Google Shape;659;p21"/>
          <p:cNvSpPr/>
          <p:nvPr/>
        </p:nvSpPr>
        <p:spPr>
          <a:xfrm>
            <a:off x="914400" y="1481328"/>
            <a:ext cx="786384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000"/>
              <a:buFont typeface="Calibri"/>
              <a:buNone/>
            </a:pPr>
            <a:r>
              <a:rPr b="0" i="0" lang="en-US" sz="1000" u="none" cap="none" strike="noStrike">
                <a:solidFill>
                  <a:srgbClr val="546E7A"/>
                </a:solidFill>
                <a:latin typeface="Calibri"/>
                <a:ea typeface="Calibri"/>
                <a:cs typeface="Calibri"/>
                <a:sym typeface="Calibri"/>
              </a:rPr>
              <a:t>All three deep learning models successfully detect glacial lakes from satellite imagery with strong agreement to ground truth.</a:t>
            </a:r>
            <a:endParaRPr b="0" i="0" sz="1000" u="none" cap="none" strike="noStrike">
              <a:solidFill>
                <a:schemeClr val="dk1"/>
              </a:solidFill>
              <a:latin typeface="Calibri"/>
              <a:ea typeface="Calibri"/>
              <a:cs typeface="Calibri"/>
              <a:sym typeface="Calibri"/>
            </a:endParaRPr>
          </a:p>
        </p:txBody>
      </p:sp>
      <p:sp>
        <p:nvSpPr>
          <p:cNvPr id="660" name="Google Shape;660;p21"/>
          <p:cNvSpPr/>
          <p:nvPr/>
        </p:nvSpPr>
        <p:spPr>
          <a:xfrm>
            <a:off x="274320" y="1865376"/>
            <a:ext cx="8595360" cy="18288"/>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21"/>
          <p:cNvSpPr/>
          <p:nvPr/>
        </p:nvSpPr>
        <p:spPr>
          <a:xfrm>
            <a:off x="274320" y="1901952"/>
            <a:ext cx="502920" cy="502920"/>
          </a:xfrm>
          <a:prstGeom prst="rect">
            <a:avLst/>
          </a:prstGeom>
          <a:solidFill>
            <a:srgbClr val="00838F"/>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1"/>
          <p:cNvSpPr/>
          <p:nvPr/>
        </p:nvSpPr>
        <p:spPr>
          <a:xfrm>
            <a:off x="274320" y="1901952"/>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63" name="Google Shape;663;p21"/>
          <p:cNvSpPr/>
          <p:nvPr/>
        </p:nvSpPr>
        <p:spPr>
          <a:xfrm>
            <a:off x="274320" y="2404872"/>
            <a:ext cx="502920" cy="20116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21"/>
          <p:cNvSpPr/>
          <p:nvPr/>
        </p:nvSpPr>
        <p:spPr>
          <a:xfrm>
            <a:off x="914400" y="1929384"/>
            <a:ext cx="78638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DeepLabV3+ Best Performer</a:t>
            </a:r>
            <a:endParaRPr b="0" i="0" sz="1200" u="none" cap="none" strike="noStrike">
              <a:solidFill>
                <a:schemeClr val="dk1"/>
              </a:solidFill>
              <a:latin typeface="Calibri"/>
              <a:ea typeface="Calibri"/>
              <a:cs typeface="Calibri"/>
              <a:sym typeface="Calibri"/>
            </a:endParaRPr>
          </a:p>
        </p:txBody>
      </p:sp>
      <p:sp>
        <p:nvSpPr>
          <p:cNvPr id="665" name="Google Shape;665;p21"/>
          <p:cNvSpPr/>
          <p:nvPr/>
        </p:nvSpPr>
        <p:spPr>
          <a:xfrm>
            <a:off x="914400" y="2194560"/>
            <a:ext cx="786384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000"/>
              <a:buFont typeface="Calibri"/>
              <a:buNone/>
            </a:pPr>
            <a:r>
              <a:rPr b="0" i="0" lang="en-US" sz="1000" u="none" cap="none" strike="noStrike">
                <a:solidFill>
                  <a:srgbClr val="546E7A"/>
                </a:solidFill>
                <a:latin typeface="Calibri"/>
                <a:ea typeface="Calibri"/>
                <a:cs typeface="Calibri"/>
                <a:sym typeface="Calibri"/>
              </a:rPr>
              <a:t>Achieved lowest loss and highest IoU. Multi-scale ASPP with dilated convolutions enables superior boundary refinement.</a:t>
            </a:r>
            <a:endParaRPr b="0" i="0" sz="1000" u="none" cap="none" strike="noStrike">
              <a:solidFill>
                <a:schemeClr val="dk1"/>
              </a:solidFill>
              <a:latin typeface="Calibri"/>
              <a:ea typeface="Calibri"/>
              <a:cs typeface="Calibri"/>
              <a:sym typeface="Calibri"/>
            </a:endParaRPr>
          </a:p>
        </p:txBody>
      </p:sp>
      <p:sp>
        <p:nvSpPr>
          <p:cNvPr id="666" name="Google Shape;666;p21"/>
          <p:cNvSpPr/>
          <p:nvPr/>
        </p:nvSpPr>
        <p:spPr>
          <a:xfrm>
            <a:off x="274320" y="2578608"/>
            <a:ext cx="8595360" cy="18288"/>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21"/>
          <p:cNvSpPr/>
          <p:nvPr/>
        </p:nvSpPr>
        <p:spPr>
          <a:xfrm>
            <a:off x="274320" y="2615184"/>
            <a:ext cx="502920" cy="5029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21"/>
          <p:cNvSpPr/>
          <p:nvPr/>
        </p:nvSpPr>
        <p:spPr>
          <a:xfrm>
            <a:off x="274320" y="2615184"/>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69" name="Google Shape;669;p21"/>
          <p:cNvSpPr/>
          <p:nvPr/>
        </p:nvSpPr>
        <p:spPr>
          <a:xfrm>
            <a:off x="274320" y="3118104"/>
            <a:ext cx="502920" cy="20116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21"/>
          <p:cNvSpPr/>
          <p:nvPr/>
        </p:nvSpPr>
        <p:spPr>
          <a:xfrm>
            <a:off x="914400" y="2642616"/>
            <a:ext cx="78638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U-Net — Reliable Baseline</a:t>
            </a:r>
            <a:endParaRPr b="0" i="0" sz="1200" u="none" cap="none" strike="noStrike">
              <a:solidFill>
                <a:schemeClr val="dk1"/>
              </a:solidFill>
              <a:latin typeface="Calibri"/>
              <a:ea typeface="Calibri"/>
              <a:cs typeface="Calibri"/>
              <a:sym typeface="Calibri"/>
            </a:endParaRPr>
          </a:p>
        </p:txBody>
      </p:sp>
      <p:sp>
        <p:nvSpPr>
          <p:cNvPr id="671" name="Google Shape;671;p21"/>
          <p:cNvSpPr/>
          <p:nvPr/>
        </p:nvSpPr>
        <p:spPr>
          <a:xfrm>
            <a:off x="914400" y="2907792"/>
            <a:ext cx="786384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000"/>
              <a:buFont typeface="Calibri"/>
              <a:buNone/>
            </a:pPr>
            <a:r>
              <a:rPr b="0" i="0" lang="en-US" sz="1000" u="none" cap="none" strike="noStrike">
                <a:solidFill>
                  <a:srgbClr val="546E7A"/>
                </a:solidFill>
                <a:latin typeface="Calibri"/>
                <a:ea typeface="Calibri"/>
                <a:cs typeface="Calibri"/>
                <a:sym typeface="Calibri"/>
              </a:rPr>
              <a:t>Stable training, competitive metrics. Effective for general lake structure detection with smaller datasets.</a:t>
            </a:r>
            <a:endParaRPr b="0" i="0" sz="1000" u="none" cap="none" strike="noStrike">
              <a:solidFill>
                <a:schemeClr val="dk1"/>
              </a:solidFill>
              <a:latin typeface="Calibri"/>
              <a:ea typeface="Calibri"/>
              <a:cs typeface="Calibri"/>
              <a:sym typeface="Calibri"/>
            </a:endParaRPr>
          </a:p>
        </p:txBody>
      </p:sp>
      <p:sp>
        <p:nvSpPr>
          <p:cNvPr id="672" name="Google Shape;672;p21"/>
          <p:cNvSpPr/>
          <p:nvPr/>
        </p:nvSpPr>
        <p:spPr>
          <a:xfrm>
            <a:off x="274320" y="3291840"/>
            <a:ext cx="8595360" cy="18288"/>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21"/>
          <p:cNvSpPr/>
          <p:nvPr/>
        </p:nvSpPr>
        <p:spPr>
          <a:xfrm>
            <a:off x="274320" y="3328416"/>
            <a:ext cx="502920" cy="5029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21"/>
          <p:cNvSpPr/>
          <p:nvPr/>
        </p:nvSpPr>
        <p:spPr>
          <a:xfrm>
            <a:off x="274320" y="3328416"/>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75" name="Google Shape;675;p21"/>
          <p:cNvSpPr/>
          <p:nvPr/>
        </p:nvSpPr>
        <p:spPr>
          <a:xfrm>
            <a:off x="274320" y="3831336"/>
            <a:ext cx="502920" cy="20116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21"/>
          <p:cNvSpPr/>
          <p:nvPr/>
        </p:nvSpPr>
        <p:spPr>
          <a:xfrm>
            <a:off x="914400" y="3355848"/>
            <a:ext cx="78638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Swin Transformer — Promising Direction</a:t>
            </a:r>
            <a:endParaRPr b="0" i="0" sz="1200" u="none" cap="none" strike="noStrike">
              <a:solidFill>
                <a:schemeClr val="dk1"/>
              </a:solidFill>
              <a:latin typeface="Calibri"/>
              <a:ea typeface="Calibri"/>
              <a:cs typeface="Calibri"/>
              <a:sym typeface="Calibri"/>
            </a:endParaRPr>
          </a:p>
        </p:txBody>
      </p:sp>
      <p:sp>
        <p:nvSpPr>
          <p:cNvPr id="677" name="Google Shape;677;p21"/>
          <p:cNvSpPr/>
          <p:nvPr/>
        </p:nvSpPr>
        <p:spPr>
          <a:xfrm>
            <a:off x="914400" y="3621024"/>
            <a:ext cx="786384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000"/>
              <a:buFont typeface="Calibri"/>
              <a:buNone/>
            </a:pPr>
            <a:r>
              <a:rPr b="0" i="0" lang="en-US" sz="1000" u="none" cap="none" strike="noStrike">
                <a:solidFill>
                  <a:srgbClr val="546E7A"/>
                </a:solidFill>
                <a:latin typeface="Calibri"/>
                <a:ea typeface="Calibri"/>
                <a:cs typeface="Calibri"/>
                <a:sym typeface="Calibri"/>
              </a:rPr>
              <a:t>Lower current performance, but holds potential with more data and hyperparameter tuning for complex scenes.</a:t>
            </a:r>
            <a:endParaRPr b="0" i="0" sz="1000" u="none" cap="none" strike="noStrike">
              <a:solidFill>
                <a:schemeClr val="dk1"/>
              </a:solidFill>
              <a:latin typeface="Calibri"/>
              <a:ea typeface="Calibri"/>
              <a:cs typeface="Calibri"/>
              <a:sym typeface="Calibri"/>
            </a:endParaRPr>
          </a:p>
        </p:txBody>
      </p:sp>
      <p:sp>
        <p:nvSpPr>
          <p:cNvPr id="678" name="Google Shape;678;p21"/>
          <p:cNvSpPr/>
          <p:nvPr/>
        </p:nvSpPr>
        <p:spPr>
          <a:xfrm>
            <a:off x="274320" y="4005072"/>
            <a:ext cx="8595360" cy="18288"/>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21"/>
          <p:cNvSpPr/>
          <p:nvPr/>
        </p:nvSpPr>
        <p:spPr>
          <a:xfrm>
            <a:off x="274320" y="4041648"/>
            <a:ext cx="502920" cy="5029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21"/>
          <p:cNvSpPr/>
          <p:nvPr/>
        </p:nvSpPr>
        <p:spPr>
          <a:xfrm>
            <a:off x="274320" y="4041648"/>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81" name="Google Shape;681;p21"/>
          <p:cNvSpPr/>
          <p:nvPr/>
        </p:nvSpPr>
        <p:spPr>
          <a:xfrm>
            <a:off x="274320" y="4544568"/>
            <a:ext cx="502920" cy="20116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21"/>
          <p:cNvSpPr/>
          <p:nvPr/>
        </p:nvSpPr>
        <p:spPr>
          <a:xfrm>
            <a:off x="914400" y="4069080"/>
            <a:ext cx="78638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200"/>
              <a:buFont typeface="Calibri"/>
              <a:buNone/>
            </a:pPr>
            <a:r>
              <a:rPr b="1" i="0" lang="en-US" sz="1200" u="none" cap="none" strike="noStrike">
                <a:solidFill>
                  <a:srgbClr val="1A2357"/>
                </a:solidFill>
                <a:latin typeface="Calibri"/>
                <a:ea typeface="Calibri"/>
                <a:cs typeface="Calibri"/>
                <a:sym typeface="Calibri"/>
              </a:rPr>
              <a:t>Scalable &amp; Automated Mapping</a:t>
            </a:r>
            <a:endParaRPr b="0" i="0" sz="1200" u="none" cap="none" strike="noStrike">
              <a:solidFill>
                <a:schemeClr val="dk1"/>
              </a:solidFill>
              <a:latin typeface="Calibri"/>
              <a:ea typeface="Calibri"/>
              <a:cs typeface="Calibri"/>
              <a:sym typeface="Calibri"/>
            </a:endParaRPr>
          </a:p>
        </p:txBody>
      </p:sp>
      <p:sp>
        <p:nvSpPr>
          <p:cNvPr id="683" name="Google Shape;683;p21"/>
          <p:cNvSpPr/>
          <p:nvPr/>
        </p:nvSpPr>
        <p:spPr>
          <a:xfrm>
            <a:off x="914400" y="4334256"/>
            <a:ext cx="786384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000"/>
              <a:buFont typeface="Calibri"/>
              <a:buNone/>
            </a:pPr>
            <a:r>
              <a:rPr b="0" i="0" lang="en-US" sz="1000" u="none" cap="none" strike="noStrike">
                <a:solidFill>
                  <a:srgbClr val="546E7A"/>
                </a:solidFill>
                <a:latin typeface="Calibri"/>
                <a:ea typeface="Calibri"/>
                <a:cs typeface="Calibri"/>
                <a:sym typeface="Calibri"/>
              </a:rPr>
              <a:t>Reduces reliance on manual methods. Establishes a strong foundation for scalable glacial lake monitoring globally.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22"/>
          <p:cNvSpPr/>
          <p:nvPr/>
        </p:nvSpPr>
        <p:spPr>
          <a:xfrm>
            <a:off x="0" y="0"/>
            <a:ext cx="9144000" cy="384048"/>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22"/>
          <p:cNvSpPr/>
          <p:nvPr/>
        </p:nvSpPr>
        <p:spPr>
          <a:xfrm>
            <a:off x="0" y="384048"/>
            <a:ext cx="9144000" cy="4114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2"/>
          <p:cNvSpPr/>
          <p:nvPr/>
        </p:nvSpPr>
        <p:spPr>
          <a:xfrm>
            <a:off x="228600" y="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INDIAN INSTITUTE OF TECHNOLOGY ROORKEE</a:t>
            </a:r>
            <a:endParaRPr b="0" i="0" sz="1100" u="none" cap="none" strike="noStrike">
              <a:solidFill>
                <a:schemeClr val="dk1"/>
              </a:solidFill>
              <a:latin typeface="Calibri"/>
              <a:ea typeface="Calibri"/>
              <a:cs typeface="Calibri"/>
              <a:sym typeface="Calibri"/>
            </a:endParaRPr>
          </a:p>
        </p:txBody>
      </p:sp>
      <p:sp>
        <p:nvSpPr>
          <p:cNvPr id="692" name="Google Shape;692;p22"/>
          <p:cNvSpPr/>
          <p:nvPr/>
        </p:nvSpPr>
        <p:spPr>
          <a:xfrm>
            <a:off x="0" y="4983480"/>
            <a:ext cx="9144000" cy="160020"/>
          </a:xfrm>
          <a:prstGeom prst="rect">
            <a:avLst/>
          </a:prstGeom>
          <a:solidFill>
            <a:srgbClr val="1A2357"/>
          </a:solidFill>
          <a:ln cap="flat" cmpd="sng" w="12700">
            <a:solidFill>
              <a:srgbClr val="1A23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22"/>
          <p:cNvSpPr/>
          <p:nvPr/>
        </p:nvSpPr>
        <p:spPr>
          <a:xfrm>
            <a:off x="758952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22"/>
          <p:cNvSpPr/>
          <p:nvPr/>
        </p:nvSpPr>
        <p:spPr>
          <a:xfrm>
            <a:off x="786384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22"/>
          <p:cNvSpPr/>
          <p:nvPr/>
        </p:nvSpPr>
        <p:spPr>
          <a:xfrm>
            <a:off x="8138160" y="5006340"/>
            <a:ext cx="128016" cy="109728"/>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22"/>
          <p:cNvSpPr/>
          <p:nvPr/>
        </p:nvSpPr>
        <p:spPr>
          <a:xfrm>
            <a:off x="6217920" y="4983480"/>
            <a:ext cx="128016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IIT ROORKEE</a:t>
            </a:r>
            <a:endParaRPr b="0" i="0" sz="700" u="none" cap="none" strike="noStrike">
              <a:solidFill>
                <a:schemeClr val="dk1"/>
              </a:solidFill>
              <a:latin typeface="Calibri"/>
              <a:ea typeface="Calibri"/>
              <a:cs typeface="Calibri"/>
              <a:sym typeface="Calibri"/>
            </a:endParaRPr>
          </a:p>
        </p:txBody>
      </p:sp>
      <p:sp>
        <p:nvSpPr>
          <p:cNvPr id="697" name="Google Shape;697;p22"/>
          <p:cNvSpPr/>
          <p:nvPr/>
        </p:nvSpPr>
        <p:spPr>
          <a:xfrm>
            <a:off x="8321040" y="4983480"/>
            <a:ext cx="685800" cy="1600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22 / 22</a:t>
            </a:r>
            <a:endParaRPr b="0" i="0" sz="700" u="none" cap="none" strike="noStrike">
              <a:solidFill>
                <a:schemeClr val="dk1"/>
              </a:solidFill>
              <a:latin typeface="Calibri"/>
              <a:ea typeface="Calibri"/>
              <a:cs typeface="Calibri"/>
              <a:sym typeface="Calibri"/>
            </a:endParaRPr>
          </a:p>
        </p:txBody>
      </p:sp>
      <p:sp>
        <p:nvSpPr>
          <p:cNvPr id="698" name="Google Shape;698;p22"/>
          <p:cNvSpPr/>
          <p:nvPr/>
        </p:nvSpPr>
        <p:spPr>
          <a:xfrm>
            <a:off x="274320" y="475488"/>
            <a:ext cx="82296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57"/>
              </a:buClr>
              <a:buSzPts val="2200"/>
              <a:buFont typeface="Calibri"/>
              <a:buNone/>
            </a:pPr>
            <a:r>
              <a:rPr b="1" i="0" lang="en-US" sz="2200" u="none" cap="none" strike="noStrike">
                <a:solidFill>
                  <a:srgbClr val="1A2357"/>
                </a:solidFill>
                <a:latin typeface="Calibri"/>
                <a:ea typeface="Calibri"/>
                <a:cs typeface="Calibri"/>
                <a:sym typeface="Calibri"/>
              </a:rPr>
              <a:t>Future Work &amp; References</a:t>
            </a:r>
            <a:endParaRPr b="0" i="0" sz="2200" u="none" cap="none" strike="noStrike">
              <a:solidFill>
                <a:schemeClr val="dk1"/>
              </a:solidFill>
              <a:latin typeface="Calibri"/>
              <a:ea typeface="Calibri"/>
              <a:cs typeface="Calibri"/>
              <a:sym typeface="Calibri"/>
            </a:endParaRPr>
          </a:p>
        </p:txBody>
      </p:sp>
      <p:sp>
        <p:nvSpPr>
          <p:cNvPr id="699" name="Google Shape;699;p22"/>
          <p:cNvSpPr/>
          <p:nvPr/>
        </p:nvSpPr>
        <p:spPr>
          <a:xfrm>
            <a:off x="274320" y="1024128"/>
            <a:ext cx="8595360" cy="27432"/>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22"/>
          <p:cNvSpPr/>
          <p:nvPr/>
        </p:nvSpPr>
        <p:spPr>
          <a:xfrm>
            <a:off x="274320" y="1115568"/>
            <a:ext cx="47548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300"/>
              <a:buFont typeface="Calibri"/>
              <a:buNone/>
            </a:pPr>
            <a:r>
              <a:rPr b="1" i="0" lang="en-US" sz="1300" u="none" cap="none" strike="noStrike">
                <a:solidFill>
                  <a:srgbClr val="1A2357"/>
                </a:solidFill>
                <a:latin typeface="Calibri"/>
                <a:ea typeface="Calibri"/>
                <a:cs typeface="Calibri"/>
                <a:sym typeface="Calibri"/>
              </a:rPr>
              <a:t>Future Directions</a:t>
            </a:r>
            <a:endParaRPr b="0" i="0" sz="1300" u="none" cap="none" strike="noStrike">
              <a:solidFill>
                <a:schemeClr val="dk1"/>
              </a:solidFill>
              <a:latin typeface="Calibri"/>
              <a:ea typeface="Calibri"/>
              <a:cs typeface="Calibri"/>
              <a:sym typeface="Calibri"/>
            </a:endParaRPr>
          </a:p>
        </p:txBody>
      </p:sp>
      <p:sp>
        <p:nvSpPr>
          <p:cNvPr id="701" name="Google Shape;701;p22"/>
          <p:cNvSpPr/>
          <p:nvPr/>
        </p:nvSpPr>
        <p:spPr>
          <a:xfrm>
            <a:off x="274320" y="1481328"/>
            <a:ext cx="292608" cy="29260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2"/>
          <p:cNvSpPr/>
          <p:nvPr/>
        </p:nvSpPr>
        <p:spPr>
          <a:xfrm>
            <a:off x="274320" y="1481328"/>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703" name="Google Shape;703;p22"/>
          <p:cNvSpPr/>
          <p:nvPr/>
        </p:nvSpPr>
        <p:spPr>
          <a:xfrm>
            <a:off x="658368" y="1499616"/>
            <a:ext cx="420624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Hyperparameter optimization (LR schedulers, augmentation strategies)</a:t>
            </a:r>
            <a:endParaRPr b="0" i="0" sz="1000" u="none" cap="none" strike="noStrike">
              <a:solidFill>
                <a:schemeClr val="dk1"/>
              </a:solidFill>
              <a:latin typeface="Calibri"/>
              <a:ea typeface="Calibri"/>
              <a:cs typeface="Calibri"/>
              <a:sym typeface="Calibri"/>
            </a:endParaRPr>
          </a:p>
        </p:txBody>
      </p:sp>
      <p:sp>
        <p:nvSpPr>
          <p:cNvPr id="704" name="Google Shape;704;p22"/>
          <p:cNvSpPr/>
          <p:nvPr/>
        </p:nvSpPr>
        <p:spPr>
          <a:xfrm>
            <a:off x="274320" y="2048256"/>
            <a:ext cx="292608" cy="29260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22"/>
          <p:cNvSpPr/>
          <p:nvPr/>
        </p:nvSpPr>
        <p:spPr>
          <a:xfrm>
            <a:off x="274320" y="2048256"/>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706" name="Google Shape;706;p22"/>
          <p:cNvSpPr/>
          <p:nvPr/>
        </p:nvSpPr>
        <p:spPr>
          <a:xfrm>
            <a:off x="658368" y="2066544"/>
            <a:ext cx="420624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Incorporate diverse geographic datasets for better generalization</a:t>
            </a:r>
            <a:endParaRPr b="0" i="0" sz="1000" u="none" cap="none" strike="noStrike">
              <a:solidFill>
                <a:schemeClr val="dk1"/>
              </a:solidFill>
              <a:latin typeface="Calibri"/>
              <a:ea typeface="Calibri"/>
              <a:cs typeface="Calibri"/>
              <a:sym typeface="Calibri"/>
            </a:endParaRPr>
          </a:p>
        </p:txBody>
      </p:sp>
      <p:sp>
        <p:nvSpPr>
          <p:cNvPr id="707" name="Google Shape;707;p22"/>
          <p:cNvSpPr/>
          <p:nvPr/>
        </p:nvSpPr>
        <p:spPr>
          <a:xfrm>
            <a:off x="274320" y="2615184"/>
            <a:ext cx="292608" cy="29260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22"/>
          <p:cNvSpPr/>
          <p:nvPr/>
        </p:nvSpPr>
        <p:spPr>
          <a:xfrm>
            <a:off x="274320" y="261518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09" name="Google Shape;709;p22"/>
          <p:cNvSpPr/>
          <p:nvPr/>
        </p:nvSpPr>
        <p:spPr>
          <a:xfrm>
            <a:off x="658368" y="2633472"/>
            <a:ext cx="420624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Explore ensemble models combining CNN + Transformer strengths</a:t>
            </a:r>
            <a:endParaRPr b="0" i="0" sz="1000" u="none" cap="none" strike="noStrike">
              <a:solidFill>
                <a:schemeClr val="dk1"/>
              </a:solidFill>
              <a:latin typeface="Calibri"/>
              <a:ea typeface="Calibri"/>
              <a:cs typeface="Calibri"/>
              <a:sym typeface="Calibri"/>
            </a:endParaRPr>
          </a:p>
        </p:txBody>
      </p:sp>
      <p:sp>
        <p:nvSpPr>
          <p:cNvPr id="710" name="Google Shape;710;p22"/>
          <p:cNvSpPr/>
          <p:nvPr/>
        </p:nvSpPr>
        <p:spPr>
          <a:xfrm>
            <a:off x="274320" y="3182112"/>
            <a:ext cx="292608" cy="29260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22"/>
          <p:cNvSpPr/>
          <p:nvPr/>
        </p:nvSpPr>
        <p:spPr>
          <a:xfrm>
            <a:off x="274320" y="318211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712" name="Google Shape;712;p22"/>
          <p:cNvSpPr/>
          <p:nvPr/>
        </p:nvSpPr>
        <p:spPr>
          <a:xfrm>
            <a:off x="658368" y="3200400"/>
            <a:ext cx="420624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Extend to Glacial Lake Outburst Flood (GLOF) risk prediction</a:t>
            </a:r>
            <a:endParaRPr b="0" i="0" sz="1000" u="none" cap="none" strike="noStrike">
              <a:solidFill>
                <a:schemeClr val="dk1"/>
              </a:solidFill>
              <a:latin typeface="Calibri"/>
              <a:ea typeface="Calibri"/>
              <a:cs typeface="Calibri"/>
              <a:sym typeface="Calibri"/>
            </a:endParaRPr>
          </a:p>
        </p:txBody>
      </p:sp>
      <p:sp>
        <p:nvSpPr>
          <p:cNvPr id="713" name="Google Shape;713;p22"/>
          <p:cNvSpPr/>
          <p:nvPr/>
        </p:nvSpPr>
        <p:spPr>
          <a:xfrm>
            <a:off x="274320" y="3749040"/>
            <a:ext cx="292608" cy="292608"/>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22"/>
          <p:cNvSpPr/>
          <p:nvPr/>
        </p:nvSpPr>
        <p:spPr>
          <a:xfrm>
            <a:off x="274320" y="374904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715" name="Google Shape;715;p22"/>
          <p:cNvSpPr/>
          <p:nvPr/>
        </p:nvSpPr>
        <p:spPr>
          <a:xfrm>
            <a:off x="658368" y="3767328"/>
            <a:ext cx="420624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Deploy as a real-time monitoring system using multi-temporal imagery</a:t>
            </a:r>
            <a:endParaRPr b="0" i="0" sz="1000" u="none" cap="none" strike="noStrike">
              <a:solidFill>
                <a:schemeClr val="dk1"/>
              </a:solidFill>
              <a:latin typeface="Calibri"/>
              <a:ea typeface="Calibri"/>
              <a:cs typeface="Calibri"/>
              <a:sym typeface="Calibri"/>
            </a:endParaRPr>
          </a:p>
        </p:txBody>
      </p:sp>
      <p:sp>
        <p:nvSpPr>
          <p:cNvPr id="716" name="Google Shape;716;p22"/>
          <p:cNvSpPr/>
          <p:nvPr/>
        </p:nvSpPr>
        <p:spPr>
          <a:xfrm>
            <a:off x="5074920" y="1115568"/>
            <a:ext cx="27432" cy="365760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22"/>
          <p:cNvSpPr/>
          <p:nvPr/>
        </p:nvSpPr>
        <p:spPr>
          <a:xfrm>
            <a:off x="5212080" y="1115568"/>
            <a:ext cx="3657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57"/>
              </a:buClr>
              <a:buSzPts val="1300"/>
              <a:buFont typeface="Calibri"/>
              <a:buNone/>
            </a:pPr>
            <a:r>
              <a:rPr b="1" i="0" lang="en-US" sz="1300" u="none" cap="none" strike="noStrike">
                <a:solidFill>
                  <a:srgbClr val="1A2357"/>
                </a:solidFill>
                <a:latin typeface="Calibri"/>
                <a:ea typeface="Calibri"/>
                <a:cs typeface="Calibri"/>
                <a:sym typeface="Calibri"/>
              </a:rPr>
              <a:t>References</a:t>
            </a:r>
            <a:endParaRPr b="0" i="0" sz="1300" u="none" cap="none" strike="noStrike">
              <a:solidFill>
                <a:schemeClr val="dk1"/>
              </a:solidFill>
              <a:latin typeface="Calibri"/>
              <a:ea typeface="Calibri"/>
              <a:cs typeface="Calibri"/>
              <a:sym typeface="Calibri"/>
            </a:endParaRPr>
          </a:p>
        </p:txBody>
      </p:sp>
      <p:sp>
        <p:nvSpPr>
          <p:cNvPr id="718" name="Google Shape;718;p22"/>
          <p:cNvSpPr/>
          <p:nvPr/>
        </p:nvSpPr>
        <p:spPr>
          <a:xfrm>
            <a:off x="5212080" y="146304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[1] Ma et al. (2025). Efficient glacial lake mapping via deep transfer learning. J. Hydrology, 657.</a:t>
            </a:r>
            <a:endParaRPr b="0" i="0" sz="850" u="none" cap="none" strike="noStrike">
              <a:solidFill>
                <a:schemeClr val="dk1"/>
              </a:solidFill>
              <a:latin typeface="Calibri"/>
              <a:ea typeface="Calibri"/>
              <a:cs typeface="Calibri"/>
              <a:sym typeface="Calibri"/>
            </a:endParaRPr>
          </a:p>
        </p:txBody>
      </p:sp>
      <p:sp>
        <p:nvSpPr>
          <p:cNvPr id="719" name="Google Shape;719;p22"/>
          <p:cNvSpPr/>
          <p:nvPr/>
        </p:nvSpPr>
        <p:spPr>
          <a:xfrm>
            <a:off x="5212080" y="201168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[2] Ronneberger et al. (2015). U-Net for biomedical image segmentation. MICCAI.</a:t>
            </a:r>
            <a:endParaRPr b="0" i="0" sz="850" u="none" cap="none" strike="noStrike">
              <a:solidFill>
                <a:schemeClr val="dk1"/>
              </a:solidFill>
              <a:latin typeface="Calibri"/>
              <a:ea typeface="Calibri"/>
              <a:cs typeface="Calibri"/>
              <a:sym typeface="Calibri"/>
            </a:endParaRPr>
          </a:p>
        </p:txBody>
      </p:sp>
      <p:sp>
        <p:nvSpPr>
          <p:cNvPr id="720" name="Google Shape;720;p22"/>
          <p:cNvSpPr/>
          <p:nvPr/>
        </p:nvSpPr>
        <p:spPr>
          <a:xfrm>
            <a:off x="5212080" y="256032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[3] Chen et al. (2017). Rethinking atrous convolution for semantic segmentation. arXiv:1706.05587.</a:t>
            </a:r>
            <a:endParaRPr b="0" i="0" sz="850" u="none" cap="none" strike="noStrike">
              <a:solidFill>
                <a:schemeClr val="dk1"/>
              </a:solidFill>
              <a:latin typeface="Calibri"/>
              <a:ea typeface="Calibri"/>
              <a:cs typeface="Calibri"/>
              <a:sym typeface="Calibri"/>
            </a:endParaRPr>
          </a:p>
        </p:txBody>
      </p:sp>
      <p:sp>
        <p:nvSpPr>
          <p:cNvPr id="721" name="Google Shape;721;p22"/>
          <p:cNvSpPr/>
          <p:nvPr/>
        </p:nvSpPr>
        <p:spPr>
          <a:xfrm>
            <a:off x="5212080" y="310896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[4] Liu et al. (2021). Swin Transformer: Hierarchical vision transformer. ICCV.</a:t>
            </a:r>
            <a:endParaRPr b="0" i="0" sz="850" u="none" cap="none" strike="noStrike">
              <a:solidFill>
                <a:schemeClr val="dk1"/>
              </a:solidFill>
              <a:latin typeface="Calibri"/>
              <a:ea typeface="Calibri"/>
              <a:cs typeface="Calibri"/>
              <a:sym typeface="Calibri"/>
            </a:endParaRPr>
          </a:p>
        </p:txBody>
      </p:sp>
      <p:sp>
        <p:nvSpPr>
          <p:cNvPr id="722" name="Google Shape;722;p22"/>
          <p:cNvSpPr/>
          <p:nvPr/>
        </p:nvSpPr>
        <p:spPr>
          <a:xfrm>
            <a:off x="5212080" y="365760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[5] Goodfellow, Bengio &amp; Courville (2016). Deep Learning. MIT Press.</a:t>
            </a:r>
            <a:endParaRPr b="0" i="0" sz="850" u="none" cap="none" strike="noStrike">
              <a:solidFill>
                <a:schemeClr val="dk1"/>
              </a:solidFill>
              <a:latin typeface="Calibri"/>
              <a:ea typeface="Calibri"/>
              <a:cs typeface="Calibri"/>
              <a:sym typeface="Calibri"/>
            </a:endParaRPr>
          </a:p>
        </p:txBody>
      </p:sp>
      <p:sp>
        <p:nvSpPr>
          <p:cNvPr id="723" name="Google Shape;723;p22"/>
          <p:cNvSpPr/>
          <p:nvPr/>
        </p:nvSpPr>
        <p:spPr>
          <a:xfrm>
            <a:off x="5212080" y="4206240"/>
            <a:ext cx="365760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46E7A"/>
              </a:buClr>
              <a:buSzPts val="850"/>
              <a:buFont typeface="Calibri"/>
              <a:buNone/>
            </a:pPr>
            <a:r>
              <a:rPr b="0" i="0" lang="en-US" sz="850" u="none" cap="none" strike="noStrike">
                <a:solidFill>
                  <a:srgbClr val="546E7A"/>
                </a:solidFill>
                <a:latin typeface="Calibri"/>
                <a:ea typeface="Calibri"/>
                <a:cs typeface="Calibri"/>
                <a:sym typeface="Calibri"/>
              </a:rPr>
              <a:t>[6] Zhang et al. (2021). Glacial lake mapping via remote sensing &amp; ML. Remote Sensing J.</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